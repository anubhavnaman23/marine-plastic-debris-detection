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62" r:id="rId1"/>
    <p:sldMasterId id="2147484988" r:id="rId2"/>
  </p:sldMasterIdLst>
  <p:notesMasterIdLst>
    <p:notesMasterId r:id="rId41"/>
  </p:notesMasterIdLst>
  <p:handoutMasterIdLst>
    <p:handoutMasterId r:id="rId42"/>
  </p:handoutMasterIdLst>
  <p:sldIdLst>
    <p:sldId id="325" r:id="rId3"/>
    <p:sldId id="839" r:id="rId4"/>
    <p:sldId id="840" r:id="rId5"/>
    <p:sldId id="841" r:id="rId6"/>
    <p:sldId id="859" r:id="rId7"/>
    <p:sldId id="884" r:id="rId8"/>
    <p:sldId id="885" r:id="rId9"/>
    <p:sldId id="886" r:id="rId10"/>
    <p:sldId id="881" r:id="rId11"/>
    <p:sldId id="887" r:id="rId12"/>
    <p:sldId id="902" r:id="rId13"/>
    <p:sldId id="843" r:id="rId14"/>
    <p:sldId id="889" r:id="rId15"/>
    <p:sldId id="892" r:id="rId16"/>
    <p:sldId id="845" r:id="rId17"/>
    <p:sldId id="883" r:id="rId18"/>
    <p:sldId id="888" r:id="rId19"/>
    <p:sldId id="872" r:id="rId20"/>
    <p:sldId id="890" r:id="rId21"/>
    <p:sldId id="893" r:id="rId22"/>
    <p:sldId id="894" r:id="rId23"/>
    <p:sldId id="897" r:id="rId24"/>
    <p:sldId id="873" r:id="rId25"/>
    <p:sldId id="895" r:id="rId26"/>
    <p:sldId id="896" r:id="rId27"/>
    <p:sldId id="891" r:id="rId28"/>
    <p:sldId id="899" r:id="rId29"/>
    <p:sldId id="854" r:id="rId30"/>
    <p:sldId id="876" r:id="rId31"/>
    <p:sldId id="878" r:id="rId32"/>
    <p:sldId id="880" r:id="rId33"/>
    <p:sldId id="879" r:id="rId34"/>
    <p:sldId id="903" r:id="rId35"/>
    <p:sldId id="904" r:id="rId36"/>
    <p:sldId id="860" r:id="rId37"/>
    <p:sldId id="882" r:id="rId38"/>
    <p:sldId id="857" r:id="rId39"/>
    <p:sldId id="858" r:id="rId40"/>
  </p:sldIdLst>
  <p:sldSz cx="9144000" cy="6858000" type="screen4x3"/>
  <p:notesSz cx="9942513" cy="6761163"/>
  <p:custDataLst>
    <p:tags r:id="rId4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9EA8C8-584C-4C01-89E3-CC153F351FCF}">
          <p14:sldIdLst>
            <p14:sldId id="325"/>
            <p14:sldId id="839"/>
            <p14:sldId id="840"/>
            <p14:sldId id="841"/>
            <p14:sldId id="859"/>
            <p14:sldId id="884"/>
            <p14:sldId id="885"/>
            <p14:sldId id="886"/>
            <p14:sldId id="881"/>
            <p14:sldId id="887"/>
            <p14:sldId id="902"/>
            <p14:sldId id="843"/>
            <p14:sldId id="889"/>
            <p14:sldId id="892"/>
            <p14:sldId id="845"/>
            <p14:sldId id="883"/>
            <p14:sldId id="888"/>
            <p14:sldId id="872"/>
            <p14:sldId id="890"/>
            <p14:sldId id="893"/>
            <p14:sldId id="894"/>
            <p14:sldId id="897"/>
            <p14:sldId id="873"/>
            <p14:sldId id="895"/>
            <p14:sldId id="896"/>
            <p14:sldId id="891"/>
            <p14:sldId id="899"/>
            <p14:sldId id="854"/>
            <p14:sldId id="876"/>
            <p14:sldId id="878"/>
            <p14:sldId id="880"/>
            <p14:sldId id="879"/>
            <p14:sldId id="903"/>
            <p14:sldId id="904"/>
            <p14:sldId id="860"/>
            <p14:sldId id="882"/>
            <p14:sldId id="857"/>
            <p14:sldId id="8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0">
          <p15:clr>
            <a:srgbClr val="A4A3A4"/>
          </p15:clr>
        </p15:guide>
        <p15:guide id="2" pos="31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5D6C6"/>
    <a:srgbClr val="008AD5"/>
    <a:srgbClr val="FFFFFF"/>
    <a:srgbClr val="00B5FF"/>
    <a:srgbClr val="009CF3"/>
    <a:srgbClr val="005493"/>
    <a:srgbClr val="0096FF"/>
    <a:srgbClr val="FF2F92"/>
    <a:srgbClr val="7A81FF"/>
    <a:srgbClr val="BB5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0980" autoAdjust="0"/>
  </p:normalViewPr>
  <p:slideViewPr>
    <p:cSldViewPr snapToGrid="0">
      <p:cViewPr varScale="1">
        <p:scale>
          <a:sx n="75" d="100"/>
          <a:sy n="75" d="100"/>
        </p:scale>
        <p:origin x="1714" y="43"/>
      </p:cViewPr>
      <p:guideLst>
        <p:guide orient="horz" pos="816"/>
        <p:guide pos="521"/>
      </p:guideLst>
    </p:cSldViewPr>
  </p:slideViewPr>
  <p:outlineViewPr>
    <p:cViewPr>
      <p:scale>
        <a:sx n="33" d="100"/>
        <a:sy n="33" d="100"/>
      </p:scale>
      <p:origin x="0" y="-4990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315"/>
    </p:cViewPr>
  </p:sorterViewPr>
  <p:notesViewPr>
    <p:cSldViewPr snapToGrid="0">
      <p:cViewPr varScale="1">
        <p:scale>
          <a:sx n="77" d="100"/>
          <a:sy n="77" d="100"/>
        </p:scale>
        <p:origin x="1599" y="43"/>
      </p:cViewPr>
      <p:guideLst>
        <p:guide orient="horz" pos="2130"/>
        <p:guide pos="31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gs" Target="tags/tag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 dirty="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FAB118C-9CC5-46C6-A261-8E8616325E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937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0563" y="500063"/>
            <a:ext cx="3400425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00163" y="3221038"/>
            <a:ext cx="7369175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CA46AE8F-55D5-467D-8760-46AABFD6E8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972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rgbClr val="E36C0A"/>
        </a:solidFill>
        <a:latin typeface="Times New Roman" charset="0"/>
        <a:ea typeface="MS PGothic" panose="020B0600070205080204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253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46AE8F-55D5-467D-8760-46AABFD6E88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429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373" y="685800"/>
            <a:ext cx="7901609" cy="1615966"/>
          </a:xfrm>
          <a:solidFill>
            <a:srgbClr val="D2691E"/>
          </a:solidFill>
          <a:ln>
            <a:solidFill>
              <a:srgbClr val="D2691E"/>
            </a:solidFill>
          </a:ln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819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60772DA-5EEF-F2DB-EA3A-53ED2791D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90488" indent="0">
              <a:tabLst/>
              <a:defRPr/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3A4BD7D-405F-9CB0-AA2C-010D5B4F7D04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86197" y="782321"/>
            <a:ext cx="8953500" cy="59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latin typeface="Helvetica" pitchFamily="2" charset="0"/>
              </a:defRPr>
            </a:lvl1pPr>
            <a:lvl2pPr>
              <a:defRPr sz="1600">
                <a:latin typeface="Helvetica" pitchFamily="2" charset="0"/>
              </a:defRPr>
            </a:lvl2pPr>
            <a:lvl3pPr>
              <a:defRPr sz="1600">
                <a:latin typeface="Helvetica" pitchFamily="2" charset="0"/>
              </a:defRPr>
            </a:lvl3pPr>
            <a:lvl4pPr>
              <a:defRPr sz="1600">
                <a:latin typeface="Helvetica" pitchFamily="2" charset="0"/>
              </a:defRPr>
            </a:lvl4pPr>
            <a:lvl5pPr>
              <a:defRPr sz="1600">
                <a:latin typeface="Helvetica" pitchFamily="2" charset="0"/>
              </a:defRPr>
            </a:lvl5pPr>
          </a:lstStyle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 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490A3F-A374-7A6E-AF01-14E3ADC8E0A4}"/>
              </a:ext>
            </a:extLst>
          </p:cNvPr>
          <p:cNvCxnSpPr/>
          <p:nvPr userDrawn="1"/>
        </p:nvCxnSpPr>
        <p:spPr bwMode="auto">
          <a:xfrm>
            <a:off x="579120" y="6658235"/>
            <a:ext cx="79349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549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3747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F549-2A59-0EBE-B20C-FDD132AA0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F5E6B-4232-7F47-6572-C584B624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A181-A82F-DFFF-0C75-00D161BB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AAFD2-15E4-94FD-6B2F-AED1EAD5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8875-6B38-F6E0-7F20-3D45C9D4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1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0DF3-5750-400D-C0A3-FD269105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BC4B-D896-69F5-E7C3-62A4AB7A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07398-FDC7-1A26-6F22-383DEF79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FA35C-7866-57F6-19ED-0D2C9294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EC1F-A855-3058-4205-BD67617B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0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3BD2-D04D-C43F-C5DB-F859BE6B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B6478-CD27-AAB2-D9C3-903711F7D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36A2-37B4-E9CC-9FE7-FA068FC4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F65CB-C85A-1BEC-7089-2FDF5A62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4C664-95ED-AD50-E01A-84573DB4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6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BCED-5EB5-47E1-0BF0-783FDEFE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DFF23-8CDF-00B4-69A6-7A113B7A1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1131A-DEEA-72E3-2147-21823668A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5BF4E-F3EE-751A-3277-A34B448B8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E018C-DE01-DD2D-91A4-8E4F4C4E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027FA-4DB8-8064-7F50-FC33CF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5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C92F-1A51-C9CF-592B-B791F2B1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3D5B5-0196-29B0-0C59-AFC50C286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0ECBA-F070-B624-1183-A804AB30F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231DF-2850-ABEF-478F-712432FBF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D5C47-74CF-B0D8-AF5E-B61C5DF65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BD41A-DE03-A4C3-D852-986217220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D5BAC-5376-F14B-A7C2-6448B9DA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2040C-B4AA-29B9-072C-53D23770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5863-EB41-7519-D5D8-504BBCE0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EA473-481E-7A4E-0D15-CA8C9126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B42F5-5CDF-FCB6-3FFD-50104AC0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D58FF-0702-F585-C5E9-AF667AD1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7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166C8-F956-7DF6-EF97-BF79F049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DFCA2-8259-1499-BB18-43AF6234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0F6BB-25BE-AE16-B87C-55A7EA6E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5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372F-13DF-2C8B-A02E-7FA8660C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A82C-ED11-0064-5D40-A0969ACEB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6AD5D-C77F-2DEB-F932-42D23B459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24465-317D-30C8-E120-77B80050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A9908-C7A3-84A0-B790-860F5DA7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D6993-9C35-41D2-39DB-C35CAC96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23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5142-42C2-98C6-191B-7D76312C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79E1E-F134-700D-EE57-D753560BA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13C7F-9F56-6EE4-7729-50E8E87AB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A8426-D088-EB2C-AA97-0F35A0F9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94F67-DE2A-27E0-A332-10FED3DE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3980A-1732-61A9-1869-56D8BB42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3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E0EA8-09A8-DB4C-245F-2B2ACFAF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735B-DE2A-097B-BF58-29178F6E8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BF62-F6A7-8AA2-F96A-D569858AF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62532-AE81-CABD-BF79-AE45984E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80679-0A10-B48C-45F5-CD24BEF1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44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7BEC8-8876-DCEC-4C31-E710E5C66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27F8C-50FA-23DD-E83D-04B476814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E797-D19F-0A9F-0C01-A6181225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5B23-40E1-9EB6-E8AB-800821F5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CA9C8-FF39-4ACB-2644-7DBFF351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0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0007-9E92-488F-FBC3-8F416B54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5664E-E30C-F040-0357-44B0CD98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09917-0B98-9D01-2161-181852C1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9CBC5-B5C7-CB3D-CD6C-C05C764C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5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" y="27846"/>
            <a:ext cx="8328751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 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197" y="782321"/>
            <a:ext cx="8953500" cy="583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  </a:t>
            </a:r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4259263" y="6126163"/>
            <a:ext cx="19288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FEE6AF91-C5F0-494A-81BE-8C742BFB874C}" type="datetime2">
              <a:rPr lang="en-US" altLang="en-US" sz="1000" b="1" smtClean="0">
                <a:solidFill>
                  <a:schemeClr val="bg1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Sunday, May 10, 2026</a:t>
            </a:fld>
            <a:endParaRPr lang="en-US" altLang="en-US" sz="1000" b="1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pic>
        <p:nvPicPr>
          <p:cNvPr id="3" name="Picture 2" descr="JUIT Office Photos | Glassdoor">
            <a:extLst>
              <a:ext uri="{FF2B5EF4-FFF2-40B4-BE49-F238E27FC236}">
                <a16:creationId xmlns:a16="http://schemas.microsoft.com/office/drawing/2014/main" id="{9C49182E-65AF-DD89-1EC9-BD22AFA987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49072" y="42901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1EF5F1E6-CB5A-2AA7-E80E-C34A90324CDF}"/>
              </a:ext>
            </a:extLst>
          </p:cNvPr>
          <p:cNvSpPr txBox="1">
            <a:spLocks/>
          </p:cNvSpPr>
          <p:nvPr userDrawn="1"/>
        </p:nvSpPr>
        <p:spPr>
          <a:xfrm>
            <a:off x="123673" y="6687228"/>
            <a:ext cx="8694256" cy="195391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5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       </a:t>
            </a:r>
            <a:r>
              <a:rPr lang="en-US" sz="90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Major Project – II (18B19CI781) Mid-Term Evaluation (MTE) | Department of CSE &amp; IT | AY 2025-26. 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8C0F4A93-94A3-EEA3-40A0-2AA166503844}"/>
              </a:ext>
            </a:extLst>
          </p:cNvPr>
          <p:cNvSpPr txBox="1">
            <a:spLocks/>
          </p:cNvSpPr>
          <p:nvPr userDrawn="1"/>
        </p:nvSpPr>
        <p:spPr>
          <a:xfrm>
            <a:off x="8798560" y="6613912"/>
            <a:ext cx="259243" cy="2460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50" dirty="0">
              <a:solidFill>
                <a:srgbClr val="002060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1E367-86B8-5C9F-E2DA-EA8B374AA0AD}"/>
              </a:ext>
            </a:extLst>
          </p:cNvPr>
          <p:cNvSpPr txBox="1"/>
          <p:nvPr userDrawn="1"/>
        </p:nvSpPr>
        <p:spPr>
          <a:xfrm>
            <a:off x="8798560" y="6644391"/>
            <a:ext cx="3657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F37DA46-7849-8B45-8870-09779661198C}" type="slidenum">
              <a:rPr lang="en-US" sz="900" smtClean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pPr algn="ctr"/>
              <a:t>‹#›</a:t>
            </a:fld>
            <a:r>
              <a:rPr lang="en-US" sz="900" dirty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t>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n-lt"/>
          <a:ea typeface="MS PGothic" panose="020B0600070205080204" pitchFamily="34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25000"/>
        <a:buFont typeface="Arial" panose="020B0604020202020204" pitchFamily="34" charset="0"/>
        <a:buChar char="•"/>
        <a:defRPr kumimoji="1" sz="18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00000"/>
        <a:buFont typeface="Courier New" panose="02070309020205020404" pitchFamily="49" charset="0"/>
        <a:buChar char="o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2pPr>
      <a:lvl3pPr marL="10858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3pPr>
      <a:lvl4pPr marL="14287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4pPr>
      <a:lvl5pPr marL="17716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1EF06-99F3-7E6C-9BF2-BD4BE618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F1F65-9F9F-07B2-D418-72BC478B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58697-C660-8953-14A2-614079BBD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509C-50A6-7446-A231-A4C5FA90B28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1EF59-EF14-9B74-67DE-1763E5B7A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D9C0-D19B-AF9A-1547-969981E03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9" r:id="rId1"/>
    <p:sldLayoutId id="2147484990" r:id="rId2"/>
    <p:sldLayoutId id="2147484991" r:id="rId3"/>
    <p:sldLayoutId id="2147484992" r:id="rId4"/>
    <p:sldLayoutId id="2147484993" r:id="rId5"/>
    <p:sldLayoutId id="2147484994" r:id="rId6"/>
    <p:sldLayoutId id="2147484995" r:id="rId7"/>
    <p:sldLayoutId id="2147484996" r:id="rId8"/>
    <p:sldLayoutId id="2147484997" r:id="rId9"/>
    <p:sldLayoutId id="2147484998" r:id="rId10"/>
    <p:sldLayoutId id="2147484999" r:id="rId11"/>
    <p:sldLayoutId id="21474850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177615"/>
            <a:ext cx="9144000" cy="1320991"/>
          </a:xfrm>
          <a:solidFill>
            <a:srgbClr val="0037A4"/>
          </a:solidFill>
          <a:ln w="19050">
            <a:solidFill>
              <a:schemeClr val="bg1"/>
            </a:solidFill>
          </a:ln>
        </p:spPr>
        <p:txBody>
          <a:bodyPr anchor="t"/>
          <a:lstStyle/>
          <a:p>
            <a:pPr eaLnBrk="1" hangingPunct="1">
              <a:lnSpc>
                <a:spcPct val="150000"/>
              </a:lnSpc>
            </a:pPr>
            <a:r>
              <a:rPr lang="en-US" altLang="en-US" sz="2800" b="1" dirty="0">
                <a:cs typeface="Tahoma" panose="020B0604030504040204" pitchFamily="34" charset="0"/>
              </a:rPr>
              <a:t>Project Title : </a:t>
            </a:r>
            <a:r>
              <a:rPr lang="en-US" sz="2800" dirty="0"/>
              <a:t>Marine Plastic Debris Detection Using Machine Learning</a:t>
            </a:r>
            <a:endParaRPr lang="en-US" altLang="en-US" sz="2800" b="1" dirty="0">
              <a:cs typeface="Tahoma" panose="020B060403050404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1FB7B0-90E1-217E-359E-488BB2E7656E}"/>
              </a:ext>
            </a:extLst>
          </p:cNvPr>
          <p:cNvSpPr/>
          <p:nvPr/>
        </p:nvSpPr>
        <p:spPr>
          <a:xfrm>
            <a:off x="1397314" y="2108091"/>
            <a:ext cx="6349367" cy="1069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Palatino" pitchFamily="2" charset="77"/>
                <a:ea typeface="Palatino" pitchFamily="2" charset="77"/>
                <a:cs typeface="Times New Roman" pitchFamily="18" charset="0"/>
              </a:rPr>
              <a:t>Major Project - II (18B19CI891) | AY 2025-26</a:t>
            </a:r>
          </a:p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End-Term Evaluation | May 2026.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B7EDF-18D7-C792-681D-E69AE68A4AAB}"/>
              </a:ext>
            </a:extLst>
          </p:cNvPr>
          <p:cNvSpPr txBox="1"/>
          <p:nvPr/>
        </p:nvSpPr>
        <p:spPr>
          <a:xfrm>
            <a:off x="517798" y="4498606"/>
            <a:ext cx="3620582" cy="1911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Group No.: 33</a:t>
            </a:r>
          </a:p>
          <a:p>
            <a:endParaRPr lang="en-IN" sz="1600" dirty="0">
              <a:latin typeface="Helvetica" pitchFamily="2" charset="0"/>
              <a:ea typeface="Palatino" pitchFamily="2" charset="77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IN" sz="1600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Team Member (s)</a:t>
            </a:r>
            <a:endParaRPr lang="en-US" sz="1600" b="1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  <a:p>
            <a:pPr marL="285750" lvl="0" indent="-28575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dirty="0"/>
              <a:t>Harmandeep Singh Maan (221030090)</a:t>
            </a:r>
          </a:p>
          <a:p>
            <a:pPr algn="ctr"/>
            <a:endParaRPr lang="en-US" sz="1600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2713F-9CAD-198F-43B7-75929E7A5424}"/>
              </a:ext>
            </a:extLst>
          </p:cNvPr>
          <p:cNvSpPr txBox="1"/>
          <p:nvPr/>
        </p:nvSpPr>
        <p:spPr>
          <a:xfrm>
            <a:off x="4871438" y="5041029"/>
            <a:ext cx="4118326" cy="1325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rPr>
              <a:t>Supervisor</a:t>
            </a: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Name: </a:t>
            </a:r>
            <a:r>
              <a:rPr lang="en-US" sz="15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Mr. Sandeep Kumar Patel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7188">
              <a:lnSpc>
                <a:spcPct val="125000"/>
              </a:lnSpc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Designation: </a:t>
            </a:r>
            <a:r>
              <a:rPr lang="en-US" sz="15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Assistant Professor, Dept. of CSE &amp; IT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314CA5-1CBF-7BB0-83BB-4FDA4318A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492" y="-165253"/>
            <a:ext cx="1178805" cy="895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D618C9-A35C-A359-4E30-21B6471F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901" y="160424"/>
            <a:ext cx="1015707" cy="345492"/>
          </a:xfrm>
          <a:prstGeom prst="rect">
            <a:avLst/>
          </a:prstGeom>
        </p:spPr>
      </p:pic>
      <p:pic>
        <p:nvPicPr>
          <p:cNvPr id="12" name="Picture 11" descr="JUIT Office Photos | Glassdoor">
            <a:extLst>
              <a:ext uri="{FF2B5EF4-FFF2-40B4-BE49-F238E27FC236}">
                <a16:creationId xmlns:a16="http://schemas.microsoft.com/office/drawing/2014/main" id="{7647374D-C05A-F866-81A8-19ED5262B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17" y="93342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7539BDE9-603E-4BD3-A201-EB56FD66F79C}"/>
              </a:ext>
            </a:extLst>
          </p:cNvPr>
          <p:cNvSpPr txBox="1">
            <a:spLocks/>
          </p:cNvSpPr>
          <p:nvPr/>
        </p:nvSpPr>
        <p:spPr>
          <a:xfrm>
            <a:off x="-2" y="601361"/>
            <a:ext cx="9144000" cy="1411285"/>
          </a:xfrm>
          <a:prstGeom prst="rect">
            <a:avLst/>
          </a:prstGeom>
        </p:spPr>
        <p:txBody>
          <a:bodyPr anchor="b"/>
          <a:lstStyle/>
          <a:p>
            <a:pPr algn="ctr" eaLnBrk="1" fontAlgn="auto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IN" sz="28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Jaypee University of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Department of Computer Science and Engineering and Information Technology</a:t>
            </a:r>
            <a:endParaRPr kumimoji="0" lang="en-IN" sz="2600" b="1" i="0" u="none" strike="noStrike" kern="1200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alatino" pitchFamily="2" charset="77"/>
              <a:ea typeface="Palatino" pitchFamily="2" charset="7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4153359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Introduction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Problem Statement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Objectives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Literature Review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Work Done (after MP-I)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Dataset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Project Design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Tools, Technologies and Languages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Implementation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Experimental Results and Evaluation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Publications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Future Work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Project Plan</a:t>
            </a:r>
          </a:p>
          <a:p>
            <a:pPr marL="357188" indent="-261938">
              <a:lnSpc>
                <a:spcPct val="140000"/>
              </a:lnSpc>
            </a:pPr>
            <a:endParaRPr lang="en-IN" sz="1600" dirty="0">
              <a:ea typeface="Palatino" pitchFamily="2" charset="77"/>
            </a:endParaRPr>
          </a:p>
          <a:p>
            <a:pPr marL="357188" indent="-261938">
              <a:lnSpc>
                <a:spcPct val="140000"/>
              </a:lnSpc>
            </a:pPr>
            <a:endParaRPr lang="en-IN" sz="1600" dirty="0">
              <a:ea typeface="Palatino" pitchFamily="2" charset="7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1600" kern="0" dirty="0"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2881-9DEC-B43E-083D-F84E7CEACD33}"/>
              </a:ext>
            </a:extLst>
          </p:cNvPr>
          <p:cNvSpPr txBox="1">
            <a:spLocks/>
          </p:cNvSpPr>
          <p:nvPr/>
        </p:nvSpPr>
        <p:spPr bwMode="auto">
          <a:xfrm>
            <a:off x="5233012" y="804231"/>
            <a:ext cx="3833872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Key Learnings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Work Contribution and Attendance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Supervisor Interactions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References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1600" kern="0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550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b="1" dirty="0"/>
              <a:t>Plastic Threat to Oceans: </a:t>
            </a:r>
            <a:r>
              <a:rPr lang="en-US" dirty="0"/>
              <a:t>Oceans are essential for regulating climate and supporting marine life. However, increasing plastic pollution has become a serious environmental problem, harming marine ecosystems and biodiversity.</a:t>
            </a:r>
          </a:p>
          <a:p>
            <a:r>
              <a:rPr lang="en-US" b="1" dirty="0"/>
              <a:t>Role of Technology: </a:t>
            </a:r>
            <a:r>
              <a:rPr lang="en-US" dirty="0"/>
              <a:t>Traditional methods of monitoring ocean pollution are costly and limited. Satellite remote sensing and machine learning provide a more efficient way to detect and monitor marine plastic debris over large ocean areas.</a:t>
            </a:r>
          </a:p>
          <a:p>
            <a:r>
              <a:rPr lang="en-US" b="1" dirty="0"/>
              <a:t>Our Approach: </a:t>
            </a:r>
            <a:r>
              <a:rPr lang="en-US" dirty="0"/>
              <a:t>This project develops an AI-based system that uses satellite imagery to detect marine plastic debris and visualize pollution hotspots for better environmental monitoring.</a:t>
            </a:r>
          </a:p>
        </p:txBody>
      </p:sp>
    </p:spTree>
    <p:extLst>
      <p:ext uri="{BB962C8B-B14F-4D97-AF65-F5344CB8AC3E}">
        <p14:creationId xmlns:p14="http://schemas.microsoft.com/office/powerpoint/2010/main" val="359526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algn="l"/>
            <a:r>
              <a:rPr lang="en-US" b="1" dirty="0"/>
              <a:t>Ineffective Large-Scale Monitoring</a:t>
            </a:r>
            <a:br>
              <a:rPr lang="en-US" dirty="0"/>
            </a:br>
            <a:r>
              <a:rPr lang="en-US" dirty="0"/>
              <a:t>Current monitoring methods such as ship surveys and aerial observations are expensive and cover limited areas, resulting in large gaps in marine debris data.</a:t>
            </a:r>
          </a:p>
          <a:p>
            <a:pPr algn="l"/>
            <a:r>
              <a:rPr lang="en-US" b="1" dirty="0"/>
              <a:t>Spectral and Spatial Challenges</a:t>
            </a:r>
            <a:br>
              <a:rPr lang="en-US" dirty="0"/>
            </a:br>
            <a:r>
              <a:rPr lang="en-US" dirty="0"/>
              <a:t>Floating plastics often have spectral signatures similar to sea foam, algae, or sediments. In satellite images like Sentinel-2 (10–20 m resolution), many debris items are too small to detect clearly.</a:t>
            </a:r>
          </a:p>
          <a:p>
            <a:pPr algn="l"/>
            <a:r>
              <a:rPr lang="en-US" b="1" dirty="0"/>
              <a:t>Model Reliability Issues</a:t>
            </a:r>
            <a:br>
              <a:rPr lang="en-US" dirty="0"/>
            </a:br>
            <a:r>
              <a:rPr lang="en-US" dirty="0"/>
              <a:t>Existing detection models often produce false alarms and may not perform consistently across different environments, limiting their practical use.</a:t>
            </a:r>
          </a:p>
        </p:txBody>
      </p:sp>
    </p:spTree>
    <p:extLst>
      <p:ext uri="{BB962C8B-B14F-4D97-AF65-F5344CB8AC3E}">
        <p14:creationId xmlns:p14="http://schemas.microsoft.com/office/powerpoint/2010/main" val="292789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US" dirty="0"/>
              <a:t>Develop an AI-based system to detect marine plastic debris using satellite imagery.</a:t>
            </a:r>
          </a:p>
          <a:p>
            <a:pPr marL="357188" indent="-261938"/>
            <a:r>
              <a:rPr lang="en-US" dirty="0"/>
              <a:t>Apply machine learning techniques to identify and classify debris regions.</a:t>
            </a:r>
          </a:p>
          <a:p>
            <a:pPr marL="357188" indent="-261938"/>
            <a:r>
              <a:rPr lang="en-US" dirty="0"/>
              <a:t>Create a monitoring system using satellite and drone imagery to track plastic accumulation.</a:t>
            </a:r>
          </a:p>
          <a:p>
            <a:pPr marL="357188" indent="-261938"/>
            <a:r>
              <a:rPr lang="en-US" dirty="0"/>
              <a:t>Generate georeferenced maps to visualize debris hotspots in coastal areas.</a:t>
            </a:r>
          </a:p>
          <a:p>
            <a:pPr marL="357188" indent="-261938"/>
            <a:r>
              <a:rPr lang="en-US" dirty="0"/>
              <a:t>Build a web-based platform to support researchers, NGOs, and policymakers in monitoring marine pollution.</a:t>
            </a:r>
          </a:p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607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25FF3-733E-7FFB-B98E-115B69886CF7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  <p:sp>
        <p:nvSpPr>
          <p:cNvPr id="3" name="Google Shape;145;p6">
            <a:extLst>
              <a:ext uri="{FF2B5EF4-FFF2-40B4-BE49-F238E27FC236}">
                <a16:creationId xmlns:a16="http://schemas.microsoft.com/office/drawing/2014/main" id="{F1433599-74BF-B3B6-1A82-3A7C1292ECB8}"/>
              </a:ext>
            </a:extLst>
          </p:cNvPr>
          <p:cNvSpPr txBox="1">
            <a:spLocks noGrp="1"/>
          </p:cNvSpPr>
          <p:nvPr/>
        </p:nvSpPr>
        <p:spPr>
          <a:xfrm>
            <a:off x="40640" y="-8683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488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</a:t>
            </a:r>
            <a:endParaRPr b="0"/>
          </a:p>
        </p:txBody>
      </p:sp>
      <p:sp>
        <p:nvSpPr>
          <p:cNvPr id="5" name="Google Shape;146;p6">
            <a:extLst>
              <a:ext uri="{FF2B5EF4-FFF2-40B4-BE49-F238E27FC236}">
                <a16:creationId xmlns:a16="http://schemas.microsoft.com/office/drawing/2014/main" id="{20019354-DC78-2B6F-6C01-B1340376003D}"/>
              </a:ext>
            </a:extLst>
          </p:cNvPr>
          <p:cNvSpPr txBox="1"/>
          <p:nvPr/>
        </p:nvSpPr>
        <p:spPr>
          <a:xfrm>
            <a:off x="77118" y="765068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B6822F7B-E1C8-3538-F8D8-A22E5EEF0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8" y="685385"/>
            <a:ext cx="8923675" cy="617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2D1C-6E0E-88C5-66A3-B524DCAA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0671-A451-62A6-6861-A0CBB876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A8BFBD-5585-5A38-BE37-37B3EE9F27F7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94D322-3275-F1E8-F7CB-393836BD7150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5.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6.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7.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8.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  <p:sp>
        <p:nvSpPr>
          <p:cNvPr id="3" name="Google Shape;152;p7">
            <a:extLst>
              <a:ext uri="{FF2B5EF4-FFF2-40B4-BE49-F238E27FC236}">
                <a16:creationId xmlns:a16="http://schemas.microsoft.com/office/drawing/2014/main" id="{E7DD6AEA-B4F3-82B3-9198-586BBEFA5D82}"/>
              </a:ext>
            </a:extLst>
          </p:cNvPr>
          <p:cNvSpPr txBox="1">
            <a:spLocks noGrp="1"/>
          </p:cNvSpPr>
          <p:nvPr/>
        </p:nvSpPr>
        <p:spPr>
          <a:xfrm>
            <a:off x="40640" y="30476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488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5" name="Google Shape;153;p7">
            <a:extLst>
              <a:ext uri="{FF2B5EF4-FFF2-40B4-BE49-F238E27FC236}">
                <a16:creationId xmlns:a16="http://schemas.microsoft.com/office/drawing/2014/main" id="{6C3BFA89-BD48-BE89-00E3-A573C23D54D6}"/>
              </a:ext>
            </a:extLst>
          </p:cNvPr>
          <p:cNvSpPr txBox="1"/>
          <p:nvPr/>
        </p:nvSpPr>
        <p:spPr>
          <a:xfrm>
            <a:off x="77118" y="804227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A8745226-9EA8-4959-5E08-6E6972931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8" y="724544"/>
            <a:ext cx="8923675" cy="59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20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B68AD-2D17-3232-24A7-12A67A6A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FA6A7-13C6-6620-A64F-1B943F0A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AD5CEA-3122-9816-6FD2-79A629EBE51B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7F5FD8-9273-F9B6-541B-18152AA72365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9.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10.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11.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  <p:sp>
        <p:nvSpPr>
          <p:cNvPr id="3" name="Google Shape;159;p8">
            <a:extLst>
              <a:ext uri="{FF2B5EF4-FFF2-40B4-BE49-F238E27FC236}">
                <a16:creationId xmlns:a16="http://schemas.microsoft.com/office/drawing/2014/main" id="{F5DE0EB4-F39C-5990-9122-D57A98ED2000}"/>
              </a:ext>
            </a:extLst>
          </p:cNvPr>
          <p:cNvSpPr txBox="1">
            <a:spLocks noGrp="1"/>
          </p:cNvSpPr>
          <p:nvPr/>
        </p:nvSpPr>
        <p:spPr>
          <a:xfrm>
            <a:off x="40652" y="70464"/>
            <a:ext cx="8328752" cy="694064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488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5" name="Google Shape;160;p8">
            <a:extLst>
              <a:ext uri="{FF2B5EF4-FFF2-40B4-BE49-F238E27FC236}">
                <a16:creationId xmlns:a16="http://schemas.microsoft.com/office/drawing/2014/main" id="{C31FD8FA-70AC-C8DD-D3D2-69570539DE45}"/>
              </a:ext>
            </a:extLst>
          </p:cNvPr>
          <p:cNvSpPr txBox="1"/>
          <p:nvPr/>
        </p:nvSpPr>
        <p:spPr>
          <a:xfrm>
            <a:off x="77130" y="844215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4AF7EACA-73DA-7B1A-8B31-58729B1CD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8" y="764532"/>
            <a:ext cx="8923675" cy="521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7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FB29-338F-2CC5-CB7B-CE349253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9604-CF58-49D5-2EBA-43566555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17523C-8990-B920-ED90-F4134EBEE7A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4C4205-89F0-ED73-BA31-71FDF2EC3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89562"/>
              </p:ext>
            </p:extLst>
          </p:nvPr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  <p:sp>
        <p:nvSpPr>
          <p:cNvPr id="3" name="Google Shape;166;p9">
            <a:extLst>
              <a:ext uri="{FF2B5EF4-FFF2-40B4-BE49-F238E27FC236}">
                <a16:creationId xmlns:a16="http://schemas.microsoft.com/office/drawing/2014/main" id="{83787826-570B-CEFF-B2FD-84C8A0B12416}"/>
              </a:ext>
            </a:extLst>
          </p:cNvPr>
          <p:cNvSpPr txBox="1">
            <a:spLocks noGrp="1"/>
          </p:cNvSpPr>
          <p:nvPr/>
        </p:nvSpPr>
        <p:spPr>
          <a:xfrm>
            <a:off x="58019" y="64510"/>
            <a:ext cx="8328752" cy="779070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488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5" name="Google Shape;167;p9">
            <a:extLst>
              <a:ext uri="{FF2B5EF4-FFF2-40B4-BE49-F238E27FC236}">
                <a16:creationId xmlns:a16="http://schemas.microsoft.com/office/drawing/2014/main" id="{BF63427B-7920-6826-93B3-C24006E59A79}"/>
              </a:ext>
            </a:extLst>
          </p:cNvPr>
          <p:cNvSpPr txBox="1"/>
          <p:nvPr/>
        </p:nvSpPr>
        <p:spPr>
          <a:xfrm>
            <a:off x="111876" y="918439"/>
            <a:ext cx="8956714" cy="650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6359870C-E89C-DE2E-201B-9059EAB9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7" y="838752"/>
            <a:ext cx="8923675" cy="557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93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1AC5-F70F-BC11-CD23-238B648F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4527-B995-4090-178B-39BCD87C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307E8F-D0B3-507D-8095-564C9FAE91B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855C7B-99A4-2F3C-C4F1-D8CBA11D4BE5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17.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18.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19.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20.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  <p:sp>
        <p:nvSpPr>
          <p:cNvPr id="3" name="Google Shape;173;p10">
            <a:extLst>
              <a:ext uri="{FF2B5EF4-FFF2-40B4-BE49-F238E27FC236}">
                <a16:creationId xmlns:a16="http://schemas.microsoft.com/office/drawing/2014/main" id="{34F06D7B-EB54-EA53-4C09-498D4FC1C489}"/>
              </a:ext>
            </a:extLst>
          </p:cNvPr>
          <p:cNvSpPr txBox="1">
            <a:spLocks noGrp="1"/>
          </p:cNvSpPr>
          <p:nvPr/>
        </p:nvSpPr>
        <p:spPr>
          <a:xfrm>
            <a:off x="40640" y="54918"/>
            <a:ext cx="8328752" cy="710546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488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5" name="Google Shape;174;p10">
            <a:extLst>
              <a:ext uri="{FF2B5EF4-FFF2-40B4-BE49-F238E27FC236}">
                <a16:creationId xmlns:a16="http://schemas.microsoft.com/office/drawing/2014/main" id="{984D92AC-C5A5-475C-6863-1E4575CBD32A}"/>
              </a:ext>
            </a:extLst>
          </p:cNvPr>
          <p:cNvSpPr txBox="1"/>
          <p:nvPr/>
        </p:nvSpPr>
        <p:spPr>
          <a:xfrm>
            <a:off x="77118" y="828669"/>
            <a:ext cx="8956714" cy="593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52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4B17C0CB-95B1-95AD-449A-D83B31EDB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8" y="748987"/>
            <a:ext cx="8923675" cy="570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9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6134A-C38B-598D-E9AD-AD5CF21F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BFFB67-5D71-C01E-1D6C-D7FD8671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Google Shape;181;g3ae37c7558c_0_7">
            <a:extLst>
              <a:ext uri="{FF2B5EF4-FFF2-40B4-BE49-F238E27FC236}">
                <a16:creationId xmlns:a16="http://schemas.microsoft.com/office/drawing/2014/main" id="{20BDC15F-AF40-5A2C-7239-611E52785592}"/>
              </a:ext>
            </a:extLst>
          </p:cNvPr>
          <p:cNvSpPr txBox="1">
            <a:spLocks noGrp="1"/>
          </p:cNvSpPr>
          <p:nvPr/>
        </p:nvSpPr>
        <p:spPr>
          <a:xfrm>
            <a:off x="40634" y="30480"/>
            <a:ext cx="8328900" cy="831920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487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 (cont…)</a:t>
            </a:r>
            <a:endParaRPr/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DCD3B314-7A6A-26D5-66BC-4C5F0279F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4" y="684455"/>
            <a:ext cx="8993203" cy="527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71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Work Done (after MP-I)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IN" sz="1600" b="1" dirty="0"/>
              <a:t>Inference &amp; Detection</a:t>
            </a:r>
            <a:r>
              <a:rPr lang="en-IN" sz="1600" dirty="0"/>
              <a:t> Performed inference on two real Sentinel-2 satellite scenes using trained </a:t>
            </a:r>
            <a:r>
              <a:rPr lang="en-IN" sz="1600" dirty="0" err="1"/>
              <a:t>UNet</a:t>
            </a:r>
            <a:r>
              <a:rPr lang="en-IN" sz="1600" dirty="0"/>
              <a:t>++ model. Detected 2,712 debris pixels on Motagua River, Guatemala showing a clear river plume debris trail. Detected 56 debris pixels on Durban, South Africa in the port water area.</a:t>
            </a:r>
          </a:p>
          <a:p>
            <a:r>
              <a:rPr lang="en-IN" sz="1600" b="1" dirty="0" err="1"/>
              <a:t>DebrisNet</a:t>
            </a:r>
            <a:r>
              <a:rPr lang="en-IN" sz="1600" b="1" dirty="0"/>
              <a:t> Web Dashboard</a:t>
            </a:r>
            <a:r>
              <a:rPr lang="en-IN" sz="1600" dirty="0"/>
              <a:t> Developed a professional web dashboard named </a:t>
            </a:r>
            <a:r>
              <a:rPr lang="en-IN" sz="1600" dirty="0" err="1"/>
              <a:t>DebrisNet</a:t>
            </a:r>
            <a:r>
              <a:rPr lang="en-IN" sz="1600" dirty="0"/>
              <a:t> using HTML5, CSS3, and JavaScript. Implemented satellite image upload with drag-and-drop functionality and real-time preview. Designed side-by-side Image Analysis panels showing Input Image and Model Detection Result.</a:t>
            </a:r>
          </a:p>
          <a:p>
            <a:r>
              <a:rPr lang="en-IN" sz="1600" b="1" dirty="0"/>
              <a:t>Dashboard Features</a:t>
            </a:r>
            <a:r>
              <a:rPr lang="en-IN" sz="1600" dirty="0"/>
              <a:t> Dynamic region detection updates Model Snapshot based on uploaded image filename. Statistics bar showing Total Area Scanned, Debris Pixels, Detection Accuracy and </a:t>
            </a:r>
            <a:r>
              <a:rPr lang="en-IN" sz="1600" dirty="0" err="1"/>
              <a:t>IoU</a:t>
            </a:r>
            <a:r>
              <a:rPr lang="en-IN" sz="1600" dirty="0"/>
              <a:t> Score. Status badge changes from Idle to Online after Detection Complete confirmation.</a:t>
            </a:r>
          </a:p>
          <a:p>
            <a:r>
              <a:rPr lang="en-IN" sz="1600" b="1" dirty="0"/>
              <a:t>Image Processing</a:t>
            </a:r>
            <a:r>
              <a:rPr lang="en-IN" sz="1600" dirty="0"/>
              <a:t> Converted 12-band Sentinel-2 TIFF to browser-compatible JPEG using </a:t>
            </a:r>
            <a:r>
              <a:rPr lang="en-IN" sz="1600" dirty="0" err="1"/>
              <a:t>Rasterio</a:t>
            </a:r>
            <a:r>
              <a:rPr lang="en-IN" sz="1600" dirty="0"/>
              <a:t> and PIL. Generated clean debris masks using OpenCV with red highlighting on black background.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98922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Dataset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248478" y="804231"/>
            <a:ext cx="8716618" cy="530833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algn="l"/>
            <a:r>
              <a:rPr lang="en-US" b="1" dirty="0"/>
              <a:t>Data Sources</a:t>
            </a:r>
            <a:br>
              <a:rPr lang="en-US" dirty="0"/>
            </a:br>
            <a:r>
              <a:rPr lang="en-US" dirty="0"/>
              <a:t>Sentinel-2 L2A satellite imagery obtained from </a:t>
            </a:r>
            <a:r>
              <a:rPr lang="en-US" b="1" dirty="0"/>
              <a:t>Copernicus Open Hub and Google Earth Engine</a:t>
            </a:r>
            <a:r>
              <a:rPr lang="en-US" dirty="0"/>
              <a:t>, along with labeled data from the </a:t>
            </a:r>
            <a:r>
              <a:rPr lang="en-US" b="1" dirty="0"/>
              <a:t>MARIDA (Marine Debris Archive)</a:t>
            </a:r>
            <a:r>
              <a:rPr lang="en-US" dirty="0"/>
              <a:t> dataset.</a:t>
            </a:r>
          </a:p>
          <a:p>
            <a:pPr algn="l"/>
            <a:r>
              <a:rPr lang="en-US" b="1" dirty="0"/>
              <a:t>Dataset Characteristics</a:t>
            </a:r>
            <a:br>
              <a:rPr lang="en-US" dirty="0"/>
            </a:br>
            <a:r>
              <a:rPr lang="en-US" dirty="0"/>
              <a:t>Spatial resolution of </a:t>
            </a:r>
            <a:r>
              <a:rPr lang="en-US" b="1" dirty="0"/>
              <a:t>10–20 m</a:t>
            </a:r>
            <a:r>
              <a:rPr lang="en-US" dirty="0"/>
              <a:t> with key spectral bands </a:t>
            </a:r>
            <a:r>
              <a:rPr lang="en-US" b="1" dirty="0"/>
              <a:t>B2, B3, B4, B8, B11, and B12</a:t>
            </a:r>
            <a:r>
              <a:rPr lang="en-US" dirty="0"/>
              <a:t>. The dataset covers </a:t>
            </a:r>
            <a:r>
              <a:rPr lang="en-US" b="1" dirty="0"/>
              <a:t>global coastal and ocean regions</a:t>
            </a:r>
            <a:r>
              <a:rPr lang="en-US" dirty="0"/>
              <a:t> with imagery from </a:t>
            </a:r>
            <a:r>
              <a:rPr lang="en-US" b="1" dirty="0"/>
              <a:t>2019–2025</a:t>
            </a:r>
            <a:r>
              <a:rPr lang="en-US" dirty="0"/>
              <a:t>.</a:t>
            </a:r>
          </a:p>
          <a:p>
            <a:pPr algn="l"/>
            <a:r>
              <a:rPr lang="en-US" b="1" dirty="0"/>
              <a:t>Annotation &amp; Usage</a:t>
            </a:r>
            <a:br>
              <a:rPr lang="en-US" dirty="0"/>
            </a:br>
            <a:r>
              <a:rPr lang="en-US" dirty="0"/>
              <a:t>The MARIDA dataset provides </a:t>
            </a:r>
            <a:r>
              <a:rPr lang="en-US" b="1" dirty="0"/>
              <a:t>pixel-wise segmentation masks</a:t>
            </a:r>
            <a:r>
              <a:rPr lang="en-US" dirty="0"/>
              <a:t> for classes such as debris, water, algae, and ships. These labeled images are used to </a:t>
            </a:r>
            <a:r>
              <a:rPr lang="en-US" b="1" dirty="0"/>
              <a:t>train and evaluate deep learning models for marine plastic debris detection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5340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6225B-EBC5-6594-440A-BA4E7ABC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7A5E-A7EE-D473-561F-4A64A753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1D5D0B-1AF1-89E5-B6B0-118FFECC4597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Architecture: </a:t>
            </a:r>
          </a:p>
          <a:p>
            <a:pPr marL="457200" lvl="0" indent="-3175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Acquisition: Sentinel-2 L2A imagery via Copernicus API / Google Earth Engine.</a:t>
            </a:r>
          </a:p>
          <a:p>
            <a:pPr marL="457200" lvl="0" indent="-3238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Ingestion &amp; Preprocessing: Automated cloud/water masking (NDWI), atmospheric correction, resampling to 10m, band stacking + indices (FDI, NDVI).</a:t>
            </a:r>
            <a:endParaRPr lang="en-US" sz="19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238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Segmentation Model: Attention U-Net / </a:t>
            </a:r>
            <a:r>
              <a:rPr lang="en-US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ResAttUNet</a:t>
            </a:r>
            <a:r>
              <a:rPr lang="en-US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pixel-wise debris detection.</a:t>
            </a:r>
          </a:p>
          <a:p>
            <a:pPr marL="457200" lvl="0" indent="-3238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Post-Processing: Adaptive thresholding, morphological cleanup, uncertainty estimation.</a:t>
            </a:r>
          </a:p>
          <a:p>
            <a:pPr marL="457200" lvl="0" indent="-3238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Outputs: Probability maps &amp; </a:t>
            </a:r>
            <a:r>
              <a:rPr lang="en-US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masks,polygons</a:t>
            </a:r>
            <a:r>
              <a:rPr lang="en-US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area + confidence attributes.</a:t>
            </a:r>
          </a:p>
          <a:p>
            <a:pPr marL="457200" lvl="0" indent="-3238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Access: Web dashboard (Leaflet/</a:t>
            </a:r>
            <a:r>
              <a:rPr lang="en-US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Mapbox</a:t>
            </a:r>
            <a:r>
              <a:rPr lang="en-US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REST API for NGOs, policymakers, and researchers.</a:t>
            </a:r>
            <a:endParaRPr lang="en-US"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90464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Google Shape;201;p13">
            <a:extLst>
              <a:ext uri="{FF2B5EF4-FFF2-40B4-BE49-F238E27FC236}">
                <a16:creationId xmlns:a16="http://schemas.microsoft.com/office/drawing/2014/main" id="{4A1BE38B-65B4-E782-46A7-E02DB8757AF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54357" y="724543"/>
            <a:ext cx="3876259" cy="59446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1498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98B9-7821-8ACD-C792-3B5F23C9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8411-792B-E2E6-69EC-2D600A8E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606774-D02D-0AA6-E33B-F48A47CAD52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sp>
        <p:nvSpPr>
          <p:cNvPr id="8" name="Google Shape;207;p14">
            <a:extLst>
              <a:ext uri="{FF2B5EF4-FFF2-40B4-BE49-F238E27FC236}">
                <a16:creationId xmlns:a16="http://schemas.microsoft.com/office/drawing/2014/main" id="{6C33EBDC-7C8B-98A6-CD9E-B9C1D5F5D26E}"/>
              </a:ext>
            </a:extLst>
          </p:cNvPr>
          <p:cNvSpPr txBox="1">
            <a:spLocks noGrp="1"/>
          </p:cNvSpPr>
          <p:nvPr/>
        </p:nvSpPr>
        <p:spPr>
          <a:xfrm>
            <a:off x="75404" y="30480"/>
            <a:ext cx="8328752" cy="808272"/>
          </a:xfrm>
          <a:prstGeom prst="rect">
            <a:avLst/>
          </a:prstGeom>
          <a:solidFill>
            <a:srgbClr val="0037A4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488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Project Design </a:t>
            </a:r>
            <a:r>
              <a:rPr lang="en-US" sz="2400" b="0" dirty="0"/>
              <a:t>(</a:t>
            </a:r>
            <a:r>
              <a:rPr lang="en-US" sz="2400" b="0" dirty="0" err="1"/>
              <a:t>cont</a:t>
            </a:r>
            <a:r>
              <a:rPr lang="en-US" sz="2400" b="0" dirty="0"/>
              <a:t>…)</a:t>
            </a:r>
            <a:endParaRPr b="0" dirty="0"/>
          </a:p>
        </p:txBody>
      </p:sp>
      <p:sp>
        <p:nvSpPr>
          <p:cNvPr id="9" name="Google Shape;208;p14">
            <a:extLst>
              <a:ext uri="{FF2B5EF4-FFF2-40B4-BE49-F238E27FC236}">
                <a16:creationId xmlns:a16="http://schemas.microsoft.com/office/drawing/2014/main" id="{CAD635F0-BBA7-CA02-E48F-BEC576FF88F4}"/>
              </a:ext>
            </a:extLst>
          </p:cNvPr>
          <p:cNvSpPr txBox="1"/>
          <p:nvPr/>
        </p:nvSpPr>
        <p:spPr>
          <a:xfrm>
            <a:off x="111882" y="918439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" name="Google Shape;209;p14" title="data_flow_slide.png">
            <a:extLst>
              <a:ext uri="{FF2B5EF4-FFF2-40B4-BE49-F238E27FC236}">
                <a16:creationId xmlns:a16="http://schemas.microsoft.com/office/drawing/2014/main" id="{F840B2C5-B68E-0F9D-B59A-A7A0790ACF4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13383" y="838759"/>
            <a:ext cx="3647660" cy="551234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10;p14">
            <a:extLst>
              <a:ext uri="{FF2B5EF4-FFF2-40B4-BE49-F238E27FC236}">
                <a16:creationId xmlns:a16="http://schemas.microsoft.com/office/drawing/2014/main" id="{8E6EFE06-20B0-B09C-CD32-22AA97CE89E0}"/>
              </a:ext>
            </a:extLst>
          </p:cNvPr>
          <p:cNvSpPr txBox="1"/>
          <p:nvPr/>
        </p:nvSpPr>
        <p:spPr>
          <a:xfrm>
            <a:off x="2292214" y="6281530"/>
            <a:ext cx="5553900" cy="43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Figure 2: Data Flow &amp; Module Interactions</a:t>
            </a:r>
            <a:endParaRPr sz="1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79300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fontAlgn="t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37AD4-ECE5-7C1E-5CCA-651EE138B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6" y="692384"/>
            <a:ext cx="8714747" cy="590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08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83E9-4D65-8F6A-A293-9964898E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F428-D835-24F5-B739-88BAA5A4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E003AF-2ACF-683D-8024-26560017920A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54B4A-8B13-36AA-27EA-341CC97E3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2" y="690795"/>
            <a:ext cx="8788258" cy="579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68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/>
              <a:t>Data Collection &amp; Preprocessing</a:t>
            </a:r>
            <a:r>
              <a:rPr lang="en-IN" sz="1600" dirty="0"/>
              <a:t>:</a:t>
            </a:r>
            <a:r>
              <a:rPr lang="en-US" sz="1600" dirty="0"/>
              <a:t> Satellite imagery is collected from </a:t>
            </a:r>
            <a:r>
              <a:rPr lang="en-US" sz="1600" b="1" dirty="0"/>
              <a:t>Sentinel-2 datasets and the MARIDA marine debris dataset</a:t>
            </a:r>
            <a:r>
              <a:rPr lang="en-US" sz="1600" dirty="0"/>
              <a:t>. Before model inference, images are normalized and processed using a </a:t>
            </a:r>
            <a:r>
              <a:rPr lang="en-US" sz="1600" b="1" dirty="0"/>
              <a:t>sliding window technique</a:t>
            </a:r>
            <a:r>
              <a:rPr lang="en-US" sz="1600" dirty="0"/>
              <a:t>, where large satellite images are divided into smaller overlapping tiles and then combined to generate the final prediction mask</a:t>
            </a:r>
            <a:endParaRPr lang="en-US" sz="1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Google Shape;235;p18">
            <a:extLst>
              <a:ext uri="{FF2B5EF4-FFF2-40B4-BE49-F238E27FC236}">
                <a16:creationId xmlns:a16="http://schemas.microsoft.com/office/drawing/2014/main" id="{1E39F339-8A82-41F9-A5C7-34288E575F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26356" b="48903"/>
          <a:stretch/>
        </p:blipFill>
        <p:spPr>
          <a:xfrm>
            <a:off x="93650" y="2035500"/>
            <a:ext cx="3961475" cy="40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37;p18">
            <a:extLst>
              <a:ext uri="{FF2B5EF4-FFF2-40B4-BE49-F238E27FC236}">
                <a16:creationId xmlns:a16="http://schemas.microsoft.com/office/drawing/2014/main" id="{F560D36F-0D9C-F9E7-6C89-0CC19CE351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965" y="2035499"/>
            <a:ext cx="5078034" cy="4058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7709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C85D1-0BFF-36D3-E66B-B3157EA52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826D-CDF3-C24C-885D-ACDC843C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0784C3-80BA-D79F-422B-B1A651248AB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algn="l"/>
            <a:r>
              <a:rPr lang="en-IN" sz="1600" dirty="0"/>
              <a:t>Model Architecture &amp; Training:</a:t>
            </a:r>
            <a:r>
              <a:rPr lang="en-US" sz="1600" dirty="0"/>
              <a:t> The detection system uses </a:t>
            </a:r>
            <a:r>
              <a:rPr lang="en-US" sz="1600" b="1" dirty="0"/>
              <a:t>deep learning segmentation models such as U-Net and U-Net++</a:t>
            </a:r>
            <a:r>
              <a:rPr lang="en-US" sz="1600" dirty="0"/>
              <a:t>. The model is trained using a combination of </a:t>
            </a:r>
            <a:r>
              <a:rPr lang="en-US" sz="1600" b="1" dirty="0"/>
              <a:t>Binary Cross Entropy, Dice Loss, and Focal Loss</a:t>
            </a:r>
            <a:r>
              <a:rPr lang="en-US" sz="1600" dirty="0"/>
              <a:t> to improve segmentation accuracy and handle class imbalance.</a:t>
            </a:r>
          </a:p>
          <a:p>
            <a:pPr algn="l"/>
            <a:endParaRPr lang="en-US" sz="1600" dirty="0"/>
          </a:p>
        </p:txBody>
      </p:sp>
      <p:pic>
        <p:nvPicPr>
          <p:cNvPr id="3" name="Google Shape;252;p20">
            <a:extLst>
              <a:ext uri="{FF2B5EF4-FFF2-40B4-BE49-F238E27FC236}">
                <a16:creationId xmlns:a16="http://schemas.microsoft.com/office/drawing/2014/main" id="{61F0A8C9-32BB-E191-6B2A-A21F471C9C4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82756" y="2305878"/>
            <a:ext cx="6718853" cy="42932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0366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31DC-3C21-12BE-7E18-E64B47D1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0750-7FC2-DBC8-B25E-E4505654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B77656-C745-88CA-F06B-6046B0BAF21A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algn="l"/>
            <a:r>
              <a:rPr lang="en-IN" sz="1600" b="1" dirty="0"/>
              <a:t>Web Dashboard</a:t>
            </a:r>
            <a:r>
              <a:rPr lang="en-IN" sz="1600" dirty="0"/>
              <a:t>:</a:t>
            </a:r>
            <a:r>
              <a:rPr lang="en-US" sz="1600" dirty="0"/>
              <a:t>A web-based platform was developed to interact with the detection system.</a:t>
            </a:r>
          </a:p>
          <a:p>
            <a:r>
              <a:rPr lang="en-US" sz="1600" dirty="0"/>
              <a:t>The dashboard allows users </a:t>
            </a:r>
            <a:r>
              <a:rPr lang="en-US" sz="1600" dirty="0" err="1"/>
              <a:t>to:Upload</a:t>
            </a:r>
            <a:r>
              <a:rPr lang="en-US" sz="1600" dirty="0"/>
              <a:t> satellite </a:t>
            </a:r>
            <a:r>
              <a:rPr lang="en-US" sz="1600" dirty="0" err="1"/>
              <a:t>imagery,Select</a:t>
            </a:r>
            <a:r>
              <a:rPr lang="en-US" sz="1600" dirty="0"/>
              <a:t> model architecture (U-Net++, Ensemble, Spectral Index),Run debris </a:t>
            </a:r>
            <a:r>
              <a:rPr lang="en-US" sz="1600" dirty="0" err="1"/>
              <a:t>detection,Compare</a:t>
            </a:r>
            <a:r>
              <a:rPr lang="en-US" sz="1600" dirty="0"/>
              <a:t> </a:t>
            </a:r>
            <a:r>
              <a:rPr lang="en-US" sz="1600" b="1" dirty="0"/>
              <a:t>input image and predicted mask.</a:t>
            </a:r>
            <a:endParaRPr lang="en-US" sz="1600" dirty="0"/>
          </a:p>
          <a:p>
            <a:pPr algn="l"/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4B1A41-4352-449D-3A46-E8C7895B8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0171"/>
            <a:ext cx="9144000" cy="43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67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7D4A-4782-F58C-BACA-4B816498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8A7A-4BDB-B5F7-EBD3-65158ED7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830A56-4854-6645-562C-39515E660E6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600" b="1" dirty="0"/>
              <a:t>Visualization &amp; Data Export:</a:t>
            </a:r>
            <a:r>
              <a:rPr lang="en-US" sz="1600" dirty="0"/>
              <a:t>The platform provides visualization and analysis tools for debris detection results</a:t>
            </a:r>
            <a:endParaRPr lang="en-IN" sz="1600" b="1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2E59A-7118-D654-3805-659407F9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797910"/>
            <a:ext cx="9066882" cy="450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15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00FA-E015-693D-5750-83EC8B7D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EA1E-C26B-60E9-2BA3-86D15261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and Evaluation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584451-44FA-A9E5-6C25-938EFC57D3F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endParaRPr lang="en-IN" sz="1800" dirty="0">
              <a:ea typeface="Palatino" pitchFamily="2" charset="77"/>
            </a:endParaRPr>
          </a:p>
        </p:txBody>
      </p:sp>
      <p:pic>
        <p:nvPicPr>
          <p:cNvPr id="3" name="Google Shape;268;p21">
            <a:extLst>
              <a:ext uri="{FF2B5EF4-FFF2-40B4-BE49-F238E27FC236}">
                <a16:creationId xmlns:a16="http://schemas.microsoft.com/office/drawing/2014/main" id="{18C06A87-F528-E983-7A47-EFABE1DEF33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125" y="1295400"/>
            <a:ext cx="4689026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69;p21">
            <a:extLst>
              <a:ext uri="{FF2B5EF4-FFF2-40B4-BE49-F238E27FC236}">
                <a16:creationId xmlns:a16="http://schemas.microsoft.com/office/drawing/2014/main" id="{EF501FBD-86FB-C829-F8D1-105DA7E93E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150" y="1540564"/>
            <a:ext cx="4443300" cy="4250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1605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21D5-3E69-1A6A-0123-ED3A9B56D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FDAF-CBFB-D6AE-7160-8429C02D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and Evaluation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A801C9-546A-4637-E895-7436F30588D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lvl="0" indent="0">
              <a:spcBef>
                <a:spcPts val="63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Findings:</a:t>
            </a:r>
            <a:endParaRPr lang="en-US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FB614-8405-14B0-7865-6A88ADA14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84" y="1508493"/>
            <a:ext cx="3600953" cy="2648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89BA7A-0F0C-747B-5EED-F3AF4C080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937" y="1479914"/>
            <a:ext cx="4915586" cy="2705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B01F18-D28C-B315-B93A-1800FB6B7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181" y="4185392"/>
            <a:ext cx="4391638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75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2C902-FFCF-57F0-6CA2-5CF88BF2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E197-E8D0-BB05-54CC-E1A2D703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and Evaluation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B1E0E4-053E-905C-34DC-B1931DBE00E0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/>
              <a:t>Web Platform Results</a:t>
            </a:r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3574C-10D4-E9AE-ABB5-F09CCBE22F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0169" y="1271904"/>
            <a:ext cx="4372378" cy="5327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70BEB9-0B39-246E-FE2F-15EE724D73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1453" y="1271904"/>
            <a:ext cx="4372378" cy="532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3876-A327-89E8-5925-E417551A9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DCD2-A236-23D9-E151-3D3D3A17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Publications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60EB7E-41FA-08CF-E919-AE860B61B137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None/>
            </a:pPr>
            <a:r>
              <a:rPr lang="en-IN" b="1" dirty="0"/>
              <a:t>Authors:</a:t>
            </a:r>
            <a:r>
              <a:rPr lang="en-IN" dirty="0"/>
              <a:t> Harmandeep Singh Maan</a:t>
            </a:r>
          </a:p>
          <a:p>
            <a:pPr marL="0" indent="0">
              <a:buNone/>
            </a:pPr>
            <a:r>
              <a:rPr lang="en-IN" dirty="0"/>
              <a:t>"Marine Plastic Debris Detection Using Attention-Based Deep Learning on Sentinel-2 Satellite Imagery," submitted to supervisor Sandeep Kumar Patel, 2026.</a:t>
            </a:r>
          </a:p>
          <a:p>
            <a:pPr marL="0" indent="0">
              <a:buNone/>
            </a:pPr>
            <a:r>
              <a:rPr lang="en-IN" b="1" dirty="0"/>
              <a:t>Status:</a:t>
            </a:r>
            <a:r>
              <a:rPr lang="en-IN" dirty="0"/>
              <a:t> Under Review</a:t>
            </a:r>
          </a:p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9375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6A9A-FC7E-2782-9261-83C7232D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EB98-8308-13E0-DAC0-4359CEC4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Future Work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F0C2A2-2E5F-45CE-8470-EA7EFCC4F86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b="1" dirty="0"/>
              <a:t>Live Backend Integration</a:t>
            </a:r>
            <a:r>
              <a:rPr lang="en-US" dirty="0"/>
              <a:t> Connect </a:t>
            </a:r>
            <a:r>
              <a:rPr lang="en-US" dirty="0" err="1"/>
              <a:t>DebrisNet</a:t>
            </a:r>
            <a:r>
              <a:rPr lang="en-US" dirty="0"/>
              <a:t> dashboard to a Flask/</a:t>
            </a:r>
            <a:r>
              <a:rPr lang="en-US" dirty="0" err="1"/>
              <a:t>FastAPI</a:t>
            </a:r>
            <a:r>
              <a:rPr lang="en-US" dirty="0"/>
              <a:t> backend server to perform actual real-time inference on any uploaded satellite image instead of showing pre-generated results, making it a fully functional detection application.</a:t>
            </a:r>
          </a:p>
          <a:p>
            <a:r>
              <a:rPr lang="en-US" b="1" dirty="0"/>
              <a:t>Hotspot Analysis &amp; Mapping</a:t>
            </a:r>
            <a:r>
              <a:rPr lang="en-US" dirty="0"/>
              <a:t> Develop the Hotspot Analysis page in </a:t>
            </a:r>
            <a:r>
              <a:rPr lang="en-US" dirty="0" err="1"/>
              <a:t>DebrisNet</a:t>
            </a:r>
            <a:r>
              <a:rPr lang="en-US" dirty="0"/>
              <a:t> using Leaflet.js to display georeferenced debris accumulation maps, providing actionable insights for NGOs, policymakers, and marine cleanup operations.</a:t>
            </a:r>
          </a:p>
          <a:p>
            <a:r>
              <a:rPr lang="en-US" b="1" dirty="0"/>
              <a:t>Real-Time Satellite Feed</a:t>
            </a:r>
            <a:r>
              <a:rPr lang="en-US" dirty="0"/>
              <a:t> Integrate with Copernicus Open Access Hub API to automatically download the latest Sentinel-2 imagery and run debris detection without manual image upload, enabling near real-time continuous monitoring.</a:t>
            </a:r>
          </a:p>
          <a:p>
            <a:r>
              <a:rPr lang="en-US" b="1" dirty="0"/>
              <a:t>Mobile Application</a:t>
            </a:r>
            <a:r>
              <a:rPr lang="en-US" dirty="0"/>
              <a:t> Develop a mobile app version of </a:t>
            </a:r>
            <a:r>
              <a:rPr lang="en-US" dirty="0" err="1"/>
              <a:t>DebrisNet</a:t>
            </a:r>
            <a:r>
              <a:rPr lang="en-US" dirty="0"/>
              <a:t> for Android and iOS platforms allowing field researchers and environmental agencies to upload drone or satellite imagery and receive instant debris detection results on the go.</a:t>
            </a:r>
          </a:p>
        </p:txBody>
      </p:sp>
    </p:spTree>
    <p:extLst>
      <p:ext uri="{BB962C8B-B14F-4D97-AF65-F5344CB8AC3E}">
        <p14:creationId xmlns:p14="http://schemas.microsoft.com/office/powerpoint/2010/main" val="3683158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Plan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endParaRPr lang="en-IN" sz="1800" dirty="0"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011EE-1053-A446-AAF4-BCF495543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86" y="752101"/>
            <a:ext cx="8328751" cy="5688456"/>
          </a:xfrm>
          <a:prstGeom prst="rect">
            <a:avLst/>
          </a:prstGeom>
        </p:spPr>
      </p:pic>
      <p:pic>
        <p:nvPicPr>
          <p:cNvPr id="3" name="Google Shape;219;p29">
            <a:extLst>
              <a:ext uri="{FF2B5EF4-FFF2-40B4-BE49-F238E27FC236}">
                <a16:creationId xmlns:a16="http://schemas.microsoft.com/office/drawing/2014/main" id="{6A4CBFDD-4D8F-98EB-0163-074A32611B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9228" t="48338" r="31097" b="13675"/>
          <a:stretch/>
        </p:blipFill>
        <p:spPr>
          <a:xfrm>
            <a:off x="272884" y="776674"/>
            <a:ext cx="8328752" cy="56638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8162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423B-3B76-BB2D-540F-6407DD5F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6FD5-56CD-F03C-31B2-41390615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Key Learnings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8B0E23-28B9-A411-F2B9-0AAE335CE30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IN" sz="1600" b="1" dirty="0"/>
              <a:t> Deep Learning on Satellite Data</a:t>
            </a:r>
            <a:r>
              <a:rPr lang="en-IN" sz="1600" dirty="0"/>
              <a:t> Applied </a:t>
            </a:r>
            <a:r>
              <a:rPr lang="en-IN" sz="1600" dirty="0" err="1"/>
              <a:t>UNet</a:t>
            </a:r>
            <a:r>
              <a:rPr lang="en-IN" sz="1600" dirty="0"/>
              <a:t>++ segmentation on real 12-band Sentinel-2 imagery, handled severe class imbalance using combined loss functions and evaluated model using </a:t>
            </a:r>
            <a:r>
              <a:rPr lang="en-IN" sz="1600" dirty="0" err="1"/>
              <a:t>IoU</a:t>
            </a:r>
            <a:r>
              <a:rPr lang="en-IN" sz="1600" dirty="0"/>
              <a:t>, F1 and Precision metrics.</a:t>
            </a:r>
          </a:p>
          <a:p>
            <a:r>
              <a:rPr lang="en-IN" sz="1600" b="1" dirty="0"/>
              <a:t> End-to-End ML Pipeline</a:t>
            </a:r>
            <a:r>
              <a:rPr lang="en-IN" sz="1600" dirty="0"/>
              <a:t> Built complete pipeline from raw satellite data through preprocessing, model training, inference and web-based visualization, understanding each stage and its real-world challenges.</a:t>
            </a:r>
          </a:p>
          <a:p>
            <a:r>
              <a:rPr lang="en-IN" sz="1600" b="1" dirty="0"/>
              <a:t>Hardware Constraint Management</a:t>
            </a:r>
            <a:r>
              <a:rPr lang="en-IN" sz="1600" dirty="0"/>
              <a:t> Solved real hardware limitations including AMD GPU CUDA incompatibility, disk space management and training interruption, developing practical problem-solving skills for AI projects.</a:t>
            </a:r>
          </a:p>
          <a:p>
            <a:r>
              <a:rPr lang="en-IN" sz="1600" b="1" dirty="0"/>
              <a:t>Web Dashboard Development</a:t>
            </a:r>
            <a:r>
              <a:rPr lang="en-IN" sz="1600" dirty="0"/>
              <a:t> Built professional interactive </a:t>
            </a:r>
            <a:r>
              <a:rPr lang="en-IN" sz="1600" dirty="0" err="1"/>
              <a:t>DebrisNet</a:t>
            </a:r>
            <a:r>
              <a:rPr lang="en-IN" sz="1600" dirty="0"/>
              <a:t> dashboard using HTML5, CSS3 and JavaScript integrating real satellite imagery with actual model outputs for non-technical audience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701351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0878-8FE6-6431-E84F-16336E6D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43DA-2CB4-07C6-001C-3A639B4B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Work Contribution and Attendance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864F80-A98D-C3A6-300F-743060AF58A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17241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6ED005-6EC0-5EE2-8CB4-7008F054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740058"/>
              </p:ext>
            </p:extLst>
          </p:nvPr>
        </p:nvGraphicFramePr>
        <p:xfrm>
          <a:off x="110169" y="724545"/>
          <a:ext cx="8810311" cy="607819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4338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017161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421518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125580">
                  <a:extLst>
                    <a:ext uri="{9D8B030D-6E8A-4147-A177-3AD203B41FA5}">
                      <a16:colId xmlns:a16="http://schemas.microsoft.com/office/drawing/2014/main" val="1693280867"/>
                    </a:ext>
                  </a:extLst>
                </a:gridCol>
                <a:gridCol w="777290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  <a:gridCol w="1031709">
                  <a:extLst>
                    <a:ext uri="{9D8B030D-6E8A-4147-A177-3AD203B41FA5}">
                      <a16:colId xmlns:a16="http://schemas.microsoft.com/office/drawing/2014/main" val="2032934039"/>
                    </a:ext>
                  </a:extLst>
                </a:gridCol>
              </a:tblGrid>
              <a:tr h="346404">
                <a:tc gridSpan="6"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GitHub Repository URL: https://github.com/AnubhavNaman23/Marine-Plastic-Debris-Detection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737965"/>
                  </a:ext>
                </a:extLst>
              </a:tr>
              <a:tr h="894391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Team Member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Roll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Work Done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(provide complete details)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Work Contribution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Lines of Code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(if any)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Lab Attendance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96658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221030090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Project architecture design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Machine learning model development and testing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Dashboard UI development and integration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Literature review and research analysis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API testing and debugging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Result analysis and visualization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Documentation and PPT preparation</a:t>
                      </a: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100%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~9990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100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76517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94391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94391"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886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280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3194-9C46-7B10-5D70-B9C3D987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875B-8D9F-C28E-9A27-52775848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 </a:t>
            </a:r>
            <a:r>
              <a:rPr lang="en-IN" b="0" dirty="0">
                <a:ea typeface="Palatino" pitchFamily="2" charset="77"/>
              </a:rPr>
              <a:t>(as mentioned in weekly log)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A942A6-C262-448C-36C3-8A22D5548AE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8BA634-6669-9F87-EF31-1C4579404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191179"/>
              </p:ext>
            </p:extLst>
          </p:nvPr>
        </p:nvGraphicFramePr>
        <p:xfrm>
          <a:off x="110168" y="881350"/>
          <a:ext cx="8835528" cy="549912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45679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No. of Meetings with Supervisor: 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71582"/>
                  </a:ext>
                </a:extLst>
              </a:tr>
              <a:tr h="543962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87684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01/01/2026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Discussed continuation of MP-1 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Suggested identifying limitations of LSTM 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Explore extension possibilities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87684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05/01/2026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Advised to study recent digital twin architectures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Compare predictive maintenance approaches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Literature review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87684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12/01/2026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Recommended shifting focus from prediction only to complete digital twin framework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87684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19/01/2026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Suggested defining project modules clearly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Suggestions include: data ingestion, analysis engine, dashboard and maintenance workflow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947635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26/01/2026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Recommended replacing legacy predictive-only pipeline with explainable AI-based decision logic.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912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5E7F-6D85-EBF6-EAD4-18BE8EC5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F7BF-D279-302B-94BF-3DB4010A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</a:t>
            </a:r>
            <a:r>
              <a:rPr lang="en-IN" sz="2400" dirty="0">
                <a:ea typeface="Palatino" pitchFamily="2" charset="77"/>
              </a:rPr>
              <a:t>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675676-26F3-304D-6B9E-B3644390EFB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7900DB-DF9E-B5EC-0B92-06A7F239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983164"/>
              </p:ext>
            </p:extLst>
          </p:nvPr>
        </p:nvGraphicFramePr>
        <p:xfrm>
          <a:off x="110168" y="881349"/>
          <a:ext cx="8835528" cy="54788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59816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6.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02/02/2026 </a:t>
                      </a:r>
                    </a:p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Guided implementation of backend APIs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Advised storing machine history for trend analysis.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7.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09/02/2026 </a:t>
                      </a:r>
                    </a:p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latin typeface="Helvetica" pitchFamily="2" charset="0"/>
                        </a:rPr>
                        <a:t>Suggested integrating AI reasoning layer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latin typeface="Helvetica" pitchFamily="2" charset="0"/>
                        </a:rPr>
                        <a:t>Suggested </a:t>
                      </a:r>
                      <a:r>
                        <a:rPr lang="en-US" sz="1200" dirty="0"/>
                        <a:t>adding maintenance action recommendations instead of static outputs.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8.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16/02/2026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Recommended building dashboard for visualizing machine metrics and maintenance tasks.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9.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23/02/2026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Advised adding simulation capability and machine history retrieval for demonstration during evaluation.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10.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02/03/2026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Suggested consolidating implementation results, preparing MTE presentation, and refining architecture explanation.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040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57D38-A12C-2B14-3293-448859F6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1CFF9-54F7-AAEF-814A-7AB94136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</a:t>
            </a:r>
            <a:r>
              <a:rPr lang="en-IN" sz="2400" dirty="0">
                <a:ea typeface="Palatino" pitchFamily="2" charset="77"/>
              </a:rPr>
              <a:t>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EEDB58-8A37-6170-DC23-4E8CB88C34C8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1DFE16-CA16-0524-2A3A-9D65503E8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123781"/>
              </p:ext>
            </p:extLst>
          </p:nvPr>
        </p:nvGraphicFramePr>
        <p:xfrm>
          <a:off x="110168" y="881349"/>
          <a:ext cx="8835528" cy="54788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59816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04/03/2026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Discussed MARIDA dataset structure and confirmed the 70/15/15 train/validation/test split strategy to be used for model training.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11/03/2026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Reviewed </a:t>
                      </a:r>
                      <a:r>
                        <a:rPr lang="en-US" sz="1200" dirty="0" err="1"/>
                        <a:t>UNet</a:t>
                      </a:r>
                      <a:r>
                        <a:rPr lang="en-US" sz="1200" dirty="0"/>
                        <a:t>++ architecture selection. Supervisor approved the ResNet34 encoder backbone and attention mechanism approach.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13.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18/03/2026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Discussed data augmentation strategies including horizontal/vertical flipping, rotation, and brightness contrast adjustment to handle class imbalance.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25/03/2026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Reviewed first training run results (Run 1: </a:t>
                      </a:r>
                      <a:r>
                        <a:rPr lang="en-US" sz="1200" dirty="0" err="1"/>
                        <a:t>IoU</a:t>
                      </a:r>
                      <a:r>
                        <a:rPr lang="en-US" sz="1200" dirty="0"/>
                        <a:t> 4.31%, F1 Score 8.26%). Supervisor suggested increasing </a:t>
                      </a:r>
                      <a:r>
                        <a:rPr lang="en-US" sz="1200" dirty="0" err="1"/>
                        <a:t>pos_weight</a:t>
                      </a:r>
                      <a:r>
                        <a:rPr lang="en-US" sz="1200" dirty="0"/>
                        <a:t> and reducing the learning rate for the next run.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01/04/2026</a:t>
                      </a:r>
                      <a:r>
                        <a:rPr lang="en-US" sz="1200" b="0" i="0" dirty="0">
                          <a:latin typeface="Helvetica" pitchFamily="2" charset="0"/>
                        </a:rPr>
                        <a:t> </a:t>
                      </a:r>
                    </a:p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Presented improved Run 2 training results (</a:t>
                      </a:r>
                      <a:r>
                        <a:rPr lang="en-US" sz="1200" dirty="0" err="1"/>
                        <a:t>IoU</a:t>
                      </a:r>
                      <a:r>
                        <a:rPr lang="en-US" sz="1200" dirty="0"/>
                        <a:t> 7.96%, F1 Score 14.74%). Supervisor acknowledged the improvement and discussed CPU vs GPU training limitations.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9941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1062-B4E8-C98F-373A-2CA86A53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7531C-D7D9-F64D-CFB8-E2EB4994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</a:t>
            </a:r>
            <a:r>
              <a:rPr lang="en-IN" sz="2400" dirty="0">
                <a:ea typeface="Palatino" pitchFamily="2" charset="77"/>
              </a:rPr>
              <a:t>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C7FC39-7A9D-86DB-B11D-AA76DE68598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A3B164-362E-6657-0B74-F5C60BBCF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008719"/>
              </p:ext>
            </p:extLst>
          </p:nvPr>
        </p:nvGraphicFramePr>
        <p:xfrm>
          <a:off x="110168" y="881349"/>
          <a:ext cx="8835528" cy="54788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59816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16.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08/04/2026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Discussed inference pipeline results on the Motagua River, Guatemala scene. Supervisor validated the 2,712 debris pixel detection and the linear debris trail observation..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17.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15/04/2026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Reviewed South Africa Durban inference result (56 debris pixels). Asked to document threshold analysis and compare both inference regions in the report.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18.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22/04/2026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Presented </a:t>
                      </a:r>
                      <a:r>
                        <a:rPr lang="en-US" sz="1200" dirty="0" err="1"/>
                        <a:t>DebrisNet</a:t>
                      </a:r>
                      <a:r>
                        <a:rPr lang="en-US" sz="1200" dirty="0"/>
                        <a:t> web dashboard demonstration. Supervisor gave feedback on UI and asked to complete the statistics bar and dynamic region-based detection display.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19.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29/04/2026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Reviewed complete project report draft. Supervisor asked to finalize the comparison table with existing solutions and strengthen the conclusion chapter.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97613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20.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07/05/2026</a:t>
                      </a:r>
                      <a:r>
                        <a:rPr lang="en-US" sz="1200" b="0" i="0" dirty="0">
                          <a:latin typeface="Helvetica" pitchFamily="2" charset="0"/>
                        </a:rPr>
                        <a:t> </a:t>
                      </a:r>
                    </a:p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Final review meeting. Supervisor approved the complete project report and signed the supervisor certificate confirming readiness for submission.</a:t>
                      </a: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Yes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160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406400" lvl="0" indent="-398462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 	A. </a:t>
            </a:r>
            <a:r>
              <a:rPr lang="en-US" sz="1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Kikaki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et al., "MARIDA: A benchmark for Marine Debris detection from Sentinel-2 remote sensing data,"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PLOS ONE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17, no. 5, pp. e0268129, May 2022.</a:t>
            </a:r>
          </a:p>
          <a:p>
            <a:pPr marL="409575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   A. Mohammed et al., "</a:t>
            </a:r>
            <a:r>
              <a:rPr lang="en-US" sz="1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ResAttUNet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Detecting Marine Debris using an Attention Activated Residual U-Net," </a:t>
            </a:r>
            <a:r>
              <a:rPr lang="en-US" sz="1400" i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preprint arXiv:2206.09791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2022.</a:t>
            </a:r>
          </a:p>
          <a:p>
            <a:pPr marL="409575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[3]   M. </a:t>
            </a:r>
            <a:r>
              <a:rPr lang="en-US" sz="1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Rußwurm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S. Jilla Venkatesa, D. Tuia, et al., "Large-scale detection of marine debris in coastal areas with Sentinel-2," </a:t>
            </a:r>
            <a:r>
              <a:rPr lang="en-US" sz="1400" i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iScience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26, no. 7, 2023.</a:t>
            </a:r>
          </a:p>
          <a:p>
            <a:pPr marL="409575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[4]   B. M. de Barros, et al., "Spectral Analysis of Marine Debris in Simulated and Observed Sentinel-2/MSI Images using Unsupervised Classification," </a:t>
            </a:r>
            <a:r>
              <a:rPr lang="en-US" sz="1400" i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preprint arXiv:2301.04567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2023.</a:t>
            </a:r>
          </a:p>
          <a:p>
            <a:pPr marL="409575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[5]   V. Nivedita et al., "Plastic debris detection along coastal waters using machine learning,"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Environmental Advances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5, no. 2, pp. 100321, Jan. 2024.</a:t>
            </a:r>
          </a:p>
          <a:p>
            <a:pPr marL="409575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[6]    M. O. Edeh et al., "A novel deep learning model for predicting marine plastic pollution," </a:t>
            </a:r>
            <a:r>
              <a:rPr lang="en-US" sz="1400" i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PeerJ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Computer Science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7, pp. e562, Apr. 2024. </a:t>
            </a:r>
          </a:p>
          <a:p>
            <a:pPr marL="409575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[7]    S. Dhanya, R. Gugan, and K. G. Kirthika, "Marine Plastic Detection Using Deep Learning,"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International Journal of Research in Engineering and Science (IJRES)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10, no. 7, pp. 45–52, Jul. 2022.</a:t>
            </a:r>
          </a:p>
          <a:p>
            <a:pPr marL="409575" lvl="0" indent="-400050">
              <a:spcBef>
                <a:spcPts val="455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[8]   S. </a:t>
            </a:r>
            <a:r>
              <a:rPr lang="en-US" sz="1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Sannigrahi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et al., "Development of automated marine floating plastic detection using Sentinel satellite data,"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PubMed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2022.</a:t>
            </a:r>
          </a:p>
        </p:txBody>
      </p:sp>
    </p:spTree>
    <p:extLst>
      <p:ext uri="{BB962C8B-B14F-4D97-AF65-F5344CB8AC3E}">
        <p14:creationId xmlns:p14="http://schemas.microsoft.com/office/powerpoint/2010/main" val="1082175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0791-3F4D-C8EA-6632-B1C3EC8E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DADB-37A7-3298-E4FE-623C4511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0A155F-E9D3-CE9B-ED58-F6066AA93EA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04322" cy="500728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400050" lvl="0" indent="-4000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[9] 	H. Booth, W. Ma, O. Karakus, "High-precision density mapping of marine debris and floating plastics via satellite imagery,"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Nature Sustainability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6, pp. 214–225, Feb. 2023.</a:t>
            </a:r>
          </a:p>
          <a:p>
            <a:pPr marL="400050" lvl="0" indent="-4000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[10] 	A. Danilov, E. </a:t>
            </a:r>
            <a:r>
              <a:rPr lang="en-US" sz="1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Serdiukova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"Review of Methods for Automatic Plastic Detection in Water Areas Using Satellite Images and Machine Learning,"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MDPI Remote Sensing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16, no. 2, pp. 112–130, 2024.</a:t>
            </a:r>
          </a:p>
          <a:p>
            <a:pPr marL="400050" lvl="0" indent="-4000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[11] 	N. Prakash et al., "AI-enhanced real-time monitoring of marine pollution: A comprehensive review,"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Marine Pollution Bulletin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182, pp. 113927, Mar. 2025.</a:t>
            </a:r>
          </a:p>
          <a:p>
            <a:pPr marL="400050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[12]  S. </a:t>
            </a:r>
            <a:r>
              <a:rPr lang="en-US" sz="1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Sannigrahi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B. Basu, A. S. Basu, F. Pilla, "Detection of Marine Floating Plastic using Sentinel-2 imagery and    machine learning models," </a:t>
            </a:r>
            <a:r>
              <a:rPr lang="en-US" sz="1400" i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preprint arXiv:2106.03562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2021.</a:t>
            </a:r>
          </a:p>
          <a:p>
            <a:pPr marL="400050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[13]  H. Booth, W. Ma, O. Karakus, "High-precision Density Mapping of Marine Debris and Floating Plastics via Satellite Imagery," </a:t>
            </a:r>
            <a:r>
              <a:rPr lang="en-US" sz="1400" i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preprint arXiv:2203.02991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2022.</a:t>
            </a:r>
          </a:p>
          <a:p>
            <a:pPr marL="400050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[14]  M. Srinivasa Rao, "Hybrid DL Approach for Marine Debris Detection Using </a:t>
            </a:r>
            <a:r>
              <a:rPr lang="en-US" sz="1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UNet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ResNext50,"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Journal of Applied Science and Technology Trends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15, no. 4, 2025.</a:t>
            </a:r>
          </a:p>
          <a:p>
            <a:pPr marL="400050" lvl="0" indent="-400050"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[15]  B. M. Bhanumathi, "Marine Plastic Detection Using Deep Learning,"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Advances in Parallel Computing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42, pp. 321–330, 2022.</a:t>
            </a:r>
          </a:p>
          <a:p>
            <a:pPr marL="400050" lvl="0" indent="-400050">
              <a:lnSpc>
                <a:spcPct val="200000"/>
              </a:lnSpc>
              <a:spcBef>
                <a:spcPts val="455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[16]  Y. Wei et al., "Marine Debris Classification with Improved YOLO v8," </a:t>
            </a:r>
            <a:r>
              <a:rPr lang="en-US" sz="14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MDPI Remote Sensing</a:t>
            </a:r>
            <a:r>
              <a:rPr lang="en-US" sz="1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14, no. 22, 2023.</a:t>
            </a:r>
          </a:p>
          <a:p>
            <a:pPr marL="0" lvl="0" indent="0">
              <a:spcBef>
                <a:spcPts val="49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65737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400050" indent="-4000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US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[17] 	ESA, "Plastic Litter Detection with Deep Learning from Satellites," </a:t>
            </a:r>
            <a:r>
              <a:rPr lang="en-US" sz="13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ESA R&amp;D Project Report</a:t>
            </a:r>
            <a:r>
              <a:rPr lang="en-US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2021.</a:t>
            </a:r>
            <a:endParaRPr lang="en-IN" sz="13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6400" lvl="0" indent="-398462">
              <a:spcBef>
                <a:spcPts val="455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[18] 	M. P. Raju et al., "ML-based Litter Detection along Indian Coast," </a:t>
            </a:r>
            <a:r>
              <a:rPr lang="en-IN" sz="13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Frontiers in Marine Science</a:t>
            </a: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12, pp. 998123, Apr. 2025.</a:t>
            </a:r>
            <a:endParaRPr lang="en-IN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6400" lvl="0" indent="-398462">
              <a:spcBef>
                <a:spcPts val="455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[19]	M. </a:t>
            </a:r>
            <a:r>
              <a:rPr lang="en-IN" sz="13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Balsi</a:t>
            </a: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et al., "Plastic Detection with Hyperspectral Aerial Remote Sensing," </a:t>
            </a:r>
            <a:r>
              <a:rPr lang="en-IN" sz="13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Remote Sensing Letters</a:t>
            </a: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16, no. 3, pp. 233–244, 2025.</a:t>
            </a:r>
            <a:endParaRPr lang="en-IN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6400" lvl="0" indent="-398462">
              <a:spcBef>
                <a:spcPts val="455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[20] 	J. Pretorius et al., "Remote Sensing of Marine Plastics in South Africa," </a:t>
            </a:r>
            <a:r>
              <a:rPr lang="en-IN" sz="13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ISPRS Annals of Photogrammetry</a:t>
            </a: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10, no. 1, pp. 127–139, 2025.</a:t>
            </a:r>
            <a:endParaRPr lang="en-IN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6400" lvl="0" indent="-398462">
              <a:spcBef>
                <a:spcPts val="455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[21]	D. P. Kingma, J. Ba, "Adam: A Method for Stochastic Optimization," </a:t>
            </a:r>
            <a:r>
              <a:rPr lang="en-IN" sz="13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Proc. International Conference on Learning Representations (ICLR)</a:t>
            </a: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2015.</a:t>
            </a:r>
            <a:endParaRPr lang="en-IN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6400" lvl="0" indent="-398462">
              <a:spcBef>
                <a:spcPts val="455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[22]	O. </a:t>
            </a:r>
            <a:r>
              <a:rPr lang="en-IN" sz="13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Ronneberger</a:t>
            </a: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P. Fischer, T. Brox, "U-Net: Convolutional Networks for Biomedical Image Segmentation," </a:t>
            </a:r>
            <a:r>
              <a:rPr lang="en-IN" sz="13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MICCAI 2015</a:t>
            </a: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pp. 234–241.</a:t>
            </a:r>
            <a:endParaRPr lang="en-IN" sz="1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6400" lvl="0" indent="-398462">
              <a:spcBef>
                <a:spcPts val="455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[23]	M. Abadi et al., "TensorFlow: Large-Scale Machine Learning on Heterogeneous Systems," </a:t>
            </a:r>
            <a:r>
              <a:rPr lang="en-IN" sz="1300" i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USENIX Conference on Operating Systems Design and Implementation (OSDI)</a:t>
            </a:r>
            <a:r>
              <a:rPr lang="en-IN" sz="13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2016.</a:t>
            </a:r>
          </a:p>
          <a:p>
            <a:pPr marL="406400" lvl="0" indent="-398462">
              <a:spcBef>
                <a:spcPts val="455"/>
              </a:spcBef>
              <a:spcAft>
                <a:spcPts val="0"/>
              </a:spcAft>
              <a:buClr>
                <a:srgbClr val="000000"/>
              </a:buClr>
              <a:buSzPts val="1625"/>
              <a:buNone/>
            </a:pPr>
            <a:endParaRPr lang="en-IN" sz="1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2273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9601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endParaRPr lang="en-IN" sz="2000" b="1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r>
              <a:rPr lang="en-IN" sz="2000" b="1" dirty="0">
                <a:ea typeface="Palatino" pitchFamily="2" charset="77"/>
              </a:rPr>
              <a:t>Thanks</a:t>
            </a:r>
            <a:r>
              <a:rPr lang="en-IN" sz="1400" dirty="0">
                <a:ea typeface="Palatino" pitchFamily="2" charset="77"/>
              </a:rPr>
              <a:t>.</a:t>
            </a:r>
          </a:p>
        </p:txBody>
      </p:sp>
      <p:pic>
        <p:nvPicPr>
          <p:cNvPr id="1034" name="Picture 10" descr="🙏">
            <a:extLst>
              <a:ext uri="{FF2B5EF4-FFF2-40B4-BE49-F238E27FC236}">
                <a16:creationId xmlns:a16="http://schemas.microsoft.com/office/drawing/2014/main" id="{75E1F11E-915E-CA0A-3D1E-80341D39E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164" y="2663328"/>
            <a:ext cx="765672" cy="76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028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316&quot;&gt;&lt;object type=&quot;3&quot; unique_id=&quot;10317&quot;&gt;&lt;property id=&quot;20148&quot; value=&quot;5&quot;/&gt;&lt;property id=&quot;20300&quot; value=&quot;Slide 1 - &amp;quot;A Novel Framework for Analysis of Big Data&amp;quot;&quot;/&gt;&lt;property id=&quot;20307&quot; value=&quot;325&quot;/&gt;&lt;/object&gt;&lt;object type=&quot;3&quot; unique_id=&quot;10325&quot;&gt;&lt;property id=&quot;20148&quot; value=&quot;5&quot;/&gt;&lt;property id=&quot;20300&quot; value=&quot;Slide 3 - &amp;quot;Introduction&amp;quot;&quot;/&gt;&lt;property id=&quot;20307&quot; value=&quot;392&quot;/&gt;&lt;/object&gt;&lt;object type=&quot;3&quot; unique_id=&quot;10327&quot;&gt;&lt;property id=&quot;20148&quot; value=&quot;5&quot;/&gt;&lt;property id=&quot;20300&quot; value=&quot;Slide 4 - &amp;quot;Introduction (cont…)&amp;quot;&quot;/&gt;&lt;property id=&quot;20307&quot; value=&quot;395&quot;/&gt;&lt;/object&gt;&lt;object type=&quot;3&quot; unique_id=&quot;10333&quot;&gt;&lt;property id=&quot;20148&quot; value=&quot;5&quot;/&gt;&lt;property id=&quot;20300&quot; value=&quot;Slide 5 - &amp;quot;Big Data – A Definition&amp;quot;&quot;/&gt;&lt;property id=&quot;20307&quot; value=&quot;386&quot;/&gt;&lt;/object&gt;&lt;object type=&quot;3&quot; unique_id=&quot;10334&quot;&gt;&lt;property id=&quot;20148&quot; value=&quot;5&quot;/&gt;&lt;property id=&quot;20300&quot; value=&quot;Slide 6 - &amp;quot;Characteristics of Big Data&amp;quot;&quot;/&gt;&lt;property id=&quot;20307&quot; value=&quot;355&quot;/&gt;&lt;/object&gt;&lt;object type=&quot;3&quot; unique_id=&quot;10339&quot;&gt;&lt;property id=&quot;20148&quot; value=&quot;5&quot;/&gt;&lt;property id=&quot;20300&quot; value=&quot;Slide 7 - &amp;quot;Big Data Analytics&amp;quot;&quot;/&gt;&lt;property id=&quot;20307&quot; value=&quot;387&quot;/&gt;&lt;/object&gt;&lt;object type=&quot;3&quot; unique_id=&quot;10369&quot;&gt;&lt;property id=&quot;20148&quot; value=&quot;5&quot;/&gt;&lt;property id=&quot;20300&quot; value=&quot;Slide 8 - &amp;quot;List of Development Tools&amp;quot;&quot;/&gt;&lt;property id=&quot;20307&quot; value=&quot;505&quot;/&gt;&lt;/object&gt;&lt;object type=&quot;3&quot; unique_id=&quot;10371&quot;&gt;&lt;property id=&quot;20148&quot; value=&quot;5&quot;/&gt;&lt;property id=&quot;20300&quot; value=&quot;Slide 11 - &amp;quot;Malware Classification: A Case Study&amp;quot;&quot;/&gt;&lt;property id=&quot;20307&quot; value=&quot;514&quot;/&gt;&lt;/object&gt;&lt;object type=&quot;3&quot; unique_id=&quot;10372&quot;&gt;&lt;property id=&quot;20148&quot; value=&quot;5&quot;/&gt;&lt;property id=&quot;20300&quot; value=&quot;Slide 55&quot;/&gt;&lt;property id=&quot;20307&quot; value=&quot;452&quot;/&gt;&lt;/object&gt;&lt;object type=&quot;3&quot; unique_id=&quot;11475&quot;&gt;&lt;property id=&quot;20148&quot; value=&quot;5&quot;/&gt;&lt;property id=&quot;20300&quot; value=&quot;Slide 2 - &amp;quot;Outline&amp;quot;&quot;/&gt;&lt;property id=&quot;20307&quot; value=&quot;516&quot;/&gt;&lt;/object&gt;&lt;object type=&quot;3&quot; unique_id=&quot;11477&quot;&gt;&lt;property id=&quot;20148&quot; value=&quot;5&quot;/&gt;&lt;property id=&quot;20300&quot; value=&quot;Slide 21 - &amp;quot;Research Gaps&amp;quot;&quot;/&gt;&lt;property id=&quot;20307&quot; value=&quot;517&quot;/&gt;&lt;/object&gt;&lt;object type=&quot;3&quot; unique_id=&quot;11478&quot;&gt;&lt;property id=&quot;20148&quot; value=&quot;5&quot;/&gt;&lt;property id=&quot;20300&quot; value=&quot;Slide 22 - &amp;quot;Research Gaps (Cont…)&amp;quot;&quot;/&gt;&lt;property id=&quot;20307&quot; value=&quot;528&quot;/&gt;&lt;/object&gt;&lt;object type=&quot;3&quot; unique_id=&quot;11479&quot;&gt;&lt;property id=&quot;20148&quot; value=&quot;5&quot;/&gt;&lt;property id=&quot;20300&quot; value=&quot;Slide 23 - &amp;quot;Problem Definition&amp;quot;&quot;/&gt;&lt;property id=&quot;20307&quot; value=&quot;519&quot;/&gt;&lt;/object&gt;&lt;object type=&quot;3&quot; unique_id=&quot;11480&quot;&gt;&lt;property id=&quot;20148&quot; value=&quot;5&quot;/&gt;&lt;property id=&quot;20300&quot; value=&quot;Slide 24 - &amp;quot;Research Objectives&amp;quot;&quot;/&gt;&lt;property id=&quot;20307&quot; value=&quot;518&quot;/&gt;&lt;/object&gt;&lt;object type=&quot;3&quot; unique_id=&quot;11481&quot;&gt;&lt;property id=&quot;20148&quot; value=&quot;5&quot;/&gt;&lt;property id=&quot;20300&quot; value=&quot;Slide 25 - &amp;quot;Research Objectives 1&amp;quot;&quot;/&gt;&lt;property id=&quot;20307&quot; value=&quot;520&quot;/&gt;&lt;/object&gt;&lt;object type=&quot;3&quot; unique_id=&quot;11482&quot;&gt;&lt;property id=&quot;20148&quot; value=&quot;5&quot;/&gt;&lt;property id=&quot;20300&quot; value=&quot;Slide 26 - &amp;quot;Research Objectives 2&amp;quot;&quot;/&gt;&lt;property id=&quot;20307&quot; value=&quot;530&quot;/&gt;&lt;/object&gt;&lt;object type=&quot;3&quot; unique_id=&quot;11483&quot;&gt;&lt;property id=&quot;20148&quot; value=&quot;5&quot;/&gt;&lt;property id=&quot;20300&quot; value=&quot;Slide 27 - &amp;quot;Research Objectives 3&amp;quot;&quot;/&gt;&lt;property id=&quot;20307&quot; value=&quot;531&quot;/&gt;&lt;/object&gt;&lt;object type=&quot;3&quot; unique_id=&quot;11484&quot;&gt;&lt;property id=&quot;20148&quot; value=&quot;5&quot;/&gt;&lt;property id=&quot;20300&quot; value=&quot;Slide 28 - &amp;quot;Architecture for Big Data Analytics&amp;quot;&quot;/&gt;&lt;property id=&quot;20307&quot; value=&quot;522&quot;/&gt;&lt;/object&gt;&lt;object type=&quot;3&quot; unique_id=&quot;11485&quot;&gt;&lt;property id=&quot;20148&quot; value=&quot;5&quot;/&gt;&lt;property id=&quot;20300&quot; value=&quot;Slide 50 - &amp;quot;Key Contributions&amp;quot;&quot;/&gt;&lt;property id=&quot;20307&quot; value=&quot;523&quot;/&gt;&lt;/object&gt;&lt;object type=&quot;3&quot; unique_id=&quot;11486&quot;&gt;&lt;property id=&quot;20148&quot; value=&quot;5&quot;/&gt;&lt;property id=&quot;20300&quot; value=&quot;Slide 51 - &amp;quot;Key Contributions&amp;quot;&quot;/&gt;&lt;property id=&quot;20307&quot; value=&quot;529&quot;/&gt;&lt;/object&gt;&lt;object type=&quot;3&quot; unique_id=&quot;11487&quot;&gt;&lt;property id=&quot;20148&quot; value=&quot;5&quot;/&gt;&lt;property id=&quot;20300&quot; value=&quot;Slide 52 - &amp;quot;Future Scope&amp;quot;&quot;/&gt;&lt;property id=&quot;20307&quot; value=&quot;524&quot;/&gt;&lt;/object&gt;&lt;object type=&quot;3&quot; unique_id=&quot;11488&quot;&gt;&lt;property id=&quot;20148&quot; value=&quot;5&quot;/&gt;&lt;property id=&quot;20300&quot; value=&quot;Slide 53 - &amp;quot;List of Publications&amp;quot;&quot;/&gt;&lt;property id=&quot;20307&quot; value=&quot;525&quot;/&gt;&lt;/object&gt;&lt;object type=&quot;3&quot; unique_id=&quot;11489&quot;&gt;&lt;property id=&quot;20148&quot; value=&quot;5&quot;/&gt;&lt;property id=&quot;20300&quot; value=&quot;Slide 54 - &amp;quot;References&amp;quot;&quot;/&gt;&lt;property id=&quot;20307&quot; value=&quot;526&quot;/&gt;&lt;/object&gt;&lt;object type=&quot;3&quot; unique_id=&quot;12645&quot;&gt;&lt;property id=&quot;20148&quot; value=&quot;5&quot;/&gt;&lt;property id=&quot;20300&quot; value=&quot;Slide 31&quot;/&gt;&lt;property id=&quot;20307&quot; value=&quot;533&quot;/&gt;&lt;/object&gt;&lt;object type=&quot;3&quot; unique_id=&quot;12646&quot;&gt;&lt;property id=&quot;20148&quot; value=&quot;5&quot;/&gt;&lt;property id=&quot;20300&quot; value=&quot;Slide 32&quot;/&gt;&lt;property id=&quot;20307&quot; value=&quot;534&quot;/&gt;&lt;/object&gt;&lt;object type=&quot;3&quot; unique_id=&quot;12647&quot;&gt;&lt;property id=&quot;20148&quot; value=&quot;5&quot;/&gt;&lt;property id=&quot;20300&quot; value=&quot;Slide 33&quot;/&gt;&lt;property id=&quot;20307&quot; value=&quot;535&quot;/&gt;&lt;/object&gt;&lt;object type=&quot;3&quot; unique_id=&quot;13251&quot;&gt;&lt;property id=&quot;20148&quot; value=&quot;5&quot;/&gt;&lt;property id=&quot;20300&quot; value=&quot;Slide 29 - &amp;quot;Data Preparation&amp;quot;&quot;/&gt;&lt;property id=&quot;20307&quot; value=&quot;537&quot;/&gt;&lt;/object&gt;&lt;object type=&quot;3&quot; unique_id=&quot;13252&quot;&gt;&lt;property id=&quot;20148&quot; value=&quot;5&quot;/&gt;&lt;property id=&quot;20300&quot; value=&quot;Slide 30 - &amp;quot;Functional Flow of Malware Trend Analysis&amp;quot;&quot;/&gt;&lt;property id=&quot;20307&quot; value=&quot;536&quot;/&gt;&lt;/object&gt;&lt;object type=&quot;3&quot; unique_id=&quot;13253&quot;&gt;&lt;property id=&quot;20148&quot; value=&quot;5&quot;/&gt;&lt;property id=&quot;20300&quot; value=&quot;Slide 34 - &amp;quot;Conclusion&amp;quot;&quot;/&gt;&lt;property id=&quot;20307&quot; value=&quot;538&quot;/&gt;&lt;/object&gt;&lt;object type=&quot;3&quot; unique_id=&quot;14250&quot;&gt;&lt;property id=&quot;20148&quot; value=&quot;5&quot;/&gt;&lt;property id=&quot;20300&quot; value=&quot;Slide 16 - &amp;quot;Comparison of open source big data stream processing frameworks&amp;quot;&quot;/&gt;&lt;property id=&quot;20307&quot; value=&quot;542&quot;/&gt;&lt;/object&gt;&lt;object type=&quot;3&quot; unique_id=&quot;14251&quot;&gt;&lt;property id=&quot;20148&quot; value=&quot;5&quot;/&gt;&lt;property id=&quot;20300&quot; value=&quot;Slide 17 - &amp;quot;Comparison of open source big data stream processing frameworks&amp;quot;&quot;/&gt;&lt;property id=&quot;20307&quot; value=&quot;545&quot;/&gt;&lt;/object&gt;&lt;object type=&quot;3&quot; unique_id=&quot;15004&quot;&gt;&lt;property id=&quot;20148&quot; value=&quot;5&quot;/&gt;&lt;property id=&quot;20300&quot; value=&quot;Slide 18 - &amp;quot;Malware Detection and Classification Techniques&amp;quot;&quot;/&gt;&lt;property id=&quot;20307&quot; value=&quot;548&quot;/&gt;&lt;/object&gt;&lt;object type=&quot;3&quot; unique_id=&quot;15005&quot;&gt;&lt;property id=&quot;20148&quot; value=&quot;5&quot;/&gt;&lt;property id=&quot;20300&quot; value=&quot;Slide 19 - &amp;quot;Malware Detection and Classification Techniques&amp;quot;&quot;/&gt;&lt;property id=&quot;20307&quot; value=&quot;549&quot;/&gt;&lt;/object&gt;&lt;object type=&quot;3&quot; unique_id=&quot;15006&quot;&gt;&lt;property id=&quot;20148&quot; value=&quot;5&quot;/&gt;&lt;property id=&quot;20300&quot; value=&quot;Slide 20 - &amp;quot;Malware Detection and Classification Techniques&amp;quot;&quot;/&gt;&lt;property id=&quot;20307&quot; value=&quot;550&quot;/&gt;&lt;/object&gt;&lt;object type=&quot;3&quot; unique_id=&quot;15624&quot;&gt;&lt;property id=&quot;20148&quot; value=&quot;5&quot;/&gt;&lt;property id=&quot;20300&quot; value=&quot;Slide 12 - &amp;quot;Literature Review&amp;quot;&quot;/&gt;&lt;property id=&quot;20307&quot; value=&quot;552&quot;/&gt;&lt;/object&gt;&lt;object type=&quot;3&quot; unique_id=&quot;15625&quot;&gt;&lt;property id=&quot;20148&quot; value=&quot;5&quot;/&gt;&lt;property id=&quot;20300&quot; value=&quot;Slide 13 - &amp;quot;A bibliometric study of relevant literature in academics/industry&amp;quot;&quot;/&gt;&lt;property id=&quot;20307&quot; value=&quot;553&quot;/&gt;&lt;/object&gt;&lt;object type=&quot;3&quot; unique_id=&quot;15626&quot;&gt;&lt;property id=&quot;20148&quot; value=&quot;5&quot;/&gt;&lt;property id=&quot;20300&quot; value=&quot;Slide 14 - &amp;quot;Literature Review&amp;quot;&quot;/&gt;&lt;property id=&quot;20307&quot; value=&quot;551&quot;/&gt;&lt;/object&gt;&lt;object type=&quot;3&quot; unique_id=&quot;15627&quot;&gt;&lt;property id=&quot;20148&quot; value=&quot;5&quot;/&gt;&lt;property id=&quot;20300&quot; value=&quot;Slide 15 - &amp;quot;Comparison of open source big data stream processing frameworks&amp;quot;&quot;/&gt;&lt;property id=&quot;20307&quot; value=&quot;556&quot;/&gt;&lt;/object&gt;&lt;object type=&quot;3&quot; unique_id=&quot;16029&quot;&gt;&lt;property id=&quot;20148&quot; value=&quot;5&quot;/&gt;&lt;property id=&quot;20300&quot; value=&quot;Slide 35 - &amp;quot;Big Data Framework for Zero-Day Malware Classification&amp;quot;&quot;/&gt;&lt;property id=&quot;20307&quot; value=&quot;557&quot;/&gt;&lt;/object&gt;&lt;object type=&quot;3&quot; unique_id=&quot;16030&quot;&gt;&lt;property id=&quot;20148&quot; value=&quot;5&quot;/&gt;&lt;property id=&quot;20300&quot; value=&quot;Slide 42 - &amp;quot;Improving Malware Detection using Big Data and EL&amp;quot;&quot;/&gt;&lt;property id=&quot;20307&quot; value=&quot;558&quot;/&gt;&lt;/object&gt;&lt;object type=&quot;3&quot; unique_id=&quot;16031&quot;&gt;&lt;property id=&quot;20148&quot; value=&quot;5&quot;/&gt;&lt;property id=&quot;20300&quot; value=&quot;Slide 49 - &amp;quot;Malware Classification using Big Data and Deep Neural Network&amp;quot;&quot;/&gt;&lt;property id=&quot;20307&quot; value=&quot;559&quot;/&gt;&lt;/object&gt;&lt;object type=&quot;3&quot; unique_id=&quot;16282&quot;&gt;&lt;property id=&quot;20148&quot; value=&quot;5&quot;/&gt;&lt;property id=&quot;20300&quot; value=&quot;Slide 44 - &amp;quot;Proposed Schemes&amp;quot;&quot;/&gt;&lt;property id=&quot;20307&quot; value=&quot;560&quot;/&gt;&lt;/object&gt;&lt;object type=&quot;3&quot; unique_id=&quot;16872&quot;&gt;&lt;property id=&quot;20148&quot; value=&quot;5&quot;/&gt;&lt;property id=&quot;20300&quot; value=&quot;Slide 43 - &amp;quot;Feature Vectorization&amp;quot;&quot;/&gt;&lt;property id=&quot;20307&quot; value=&quot;562&quot;/&gt;&lt;/object&gt;&lt;object type=&quot;3&quot; unique_id=&quot;16873&quot;&gt;&lt;property id=&quot;20148&quot; value=&quot;5&quot;/&gt;&lt;property id=&quot;20300&quot; value=&quot;Slide 45 - &amp;quot;Experimental Results and Evaluation&amp;quot;&quot;/&gt;&lt;property id=&quot;20307&quot; value=&quot;561&quot;/&gt;&lt;/object&gt;&lt;object type=&quot;3&quot; unique_id=&quot;16874&quot;&gt;&lt;property id=&quot;20148&quot; value=&quot;5&quot;/&gt;&lt;property id=&quot;20300&quot; value=&quot;Slide 46 - &amp;quot;Evaluation Results&amp;quot;&quot;/&gt;&lt;property id=&quot;20307&quot; value=&quot;563&quot;/&gt;&lt;/object&gt;&lt;object type=&quot;3&quot; unique_id=&quot;16875&quot;&gt;&lt;property id=&quot;20148&quot; value=&quot;5&quot;/&gt;&lt;property id=&quot;20300&quot; value=&quot;Slide 47 - &amp;quot;Evaluation Results&amp;quot;&quot;/&gt;&lt;property id=&quot;20307&quot; value=&quot;564&quot;/&gt;&lt;/object&gt;&lt;object type=&quot;3&quot; unique_id=&quot;16876&quot;&gt;&lt;property id=&quot;20148&quot; value=&quot;5&quot;/&gt;&lt;property id=&quot;20300&quot; value=&quot;Slide 48 - &amp;quot;Conclusion&amp;quot;&quot;/&gt;&lt;property id=&quot;20307&quot; value=&quot;565&quot;/&gt;&lt;/object&gt;&lt;object type=&quot;3&quot; unique_id=&quot;17661&quot;&gt;&lt;property id=&quot;20148&quot; value=&quot;5&quot;/&gt;&lt;property id=&quot;20300&quot; value=&quot;Slide 36 - &amp;quot;Data Preparation&amp;quot;&quot;/&gt;&lt;property id=&quot;20307&quot; value=&quot;566&quot;/&gt;&lt;/object&gt;&lt;object type=&quot;3&quot; unique_id=&quot;17662&quot;&gt;&lt;property id=&quot;20148&quot; value=&quot;5&quot;/&gt;&lt;property id=&quot;20300&quot; value=&quot;Slide 37 - &amp;quot;Big Data Framework for Malware Classification&amp;quot;&quot;/&gt;&lt;property id=&quot;20307&quot; value=&quot;568&quot;/&gt;&lt;/object&gt;&lt;object type=&quot;3&quot; unique_id=&quot;17663&quot;&gt;&lt;property id=&quot;20148&quot; value=&quot;5&quot;/&gt;&lt;property id=&quot;20300&quot; value=&quot;Slide 38 - &amp;quot;Feature Extraction&amp;quot;&quot;/&gt;&lt;property id=&quot;20307&quot; value=&quot;571&quot;/&gt;&lt;/object&gt;&lt;object type=&quot;3&quot; unique_id=&quot;17664&quot;&gt;&lt;property id=&quot;20148&quot; value=&quot;5&quot;/&gt;&lt;property id=&quot;20300&quot; value=&quot;Slide 39 - &amp;quot;Impact of Features on Malware Classification&amp;quot;&quot;/&gt;&lt;property id=&quot;20307&quot; value=&quot;569&quot;/&gt;&lt;/object&gt;&lt;object type=&quot;3&quot; unique_id=&quot;17665&quot;&gt;&lt;property id=&quot;20148&quot; value=&quot;5&quot;/&gt;&lt;property id=&quot;20300&quot; value=&quot;Slide 40 - &amp;quot;Experimental Results&amp;quot;&quot;/&gt;&lt;property id=&quot;20307&quot; value=&quot;570&quot;/&gt;&lt;/object&gt;&lt;object type=&quot;3&quot; unique_id=&quot;18034&quot;&gt;&lt;property id=&quot;20148&quot; value=&quot;5&quot;/&gt;&lt;property id=&quot;20300&quot; value=&quot;Slide 41 - &amp;quot;Conclusion&amp;quot;&quot;/&gt;&lt;property id=&quot;20307&quot; value=&quot;572&quot;/&gt;&lt;/object&gt;&lt;object type=&quot;3&quot; unique_id=&quot;20918&quot;&gt;&lt;property id=&quot;20148&quot; value=&quot;5&quot;/&gt;&lt;property id=&quot;20300&quot; value=&quot;Slide 9 - &amp;quot;Scalable Machine Learning Libraries&amp;quot;&quot;/&gt;&lt;property id=&quot;20307&quot; value=&quot;575&quot;/&gt;&lt;/object&gt;&lt;object type=&quot;3&quot; unique_id=&quot;20919&quot;&gt;&lt;property id=&quot;20148&quot; value=&quot;5&quot;/&gt;&lt;property id=&quot;20300&quot; value=&quot;Slide 10 - &amp;quot;High Level Conceptual Architecture of Big Data Security Analytics&amp;quot;&quot;/&gt;&lt;property id=&quot;20307&quot; value=&quot;576&quot;/&gt;&lt;/object&gt;&lt;/object&gt;&lt;object type=&quot;8&quot; unique_id=&quot;1043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1_os-8">
  <a:themeElements>
    <a:clrScheme name="Custom 1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002060"/>
      </a:hlink>
      <a:folHlink>
        <a:srgbClr val="0070C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21923</TotalTime>
  <Words>3017</Words>
  <Application>Microsoft Office PowerPoint</Application>
  <PresentationFormat>On-screen Show (4:3)</PresentationFormat>
  <Paragraphs>347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2" baseType="lpstr">
      <vt:lpstr>MS PGothic</vt:lpstr>
      <vt:lpstr>Arial</vt:lpstr>
      <vt:lpstr>Calibri</vt:lpstr>
      <vt:lpstr>Calibri Light</vt:lpstr>
      <vt:lpstr>Courier New</vt:lpstr>
      <vt:lpstr>Helvetica</vt:lpstr>
      <vt:lpstr>Helvetica Neue</vt:lpstr>
      <vt:lpstr>Palatino</vt:lpstr>
      <vt:lpstr>Tahoma</vt:lpstr>
      <vt:lpstr>Times New Roman</vt:lpstr>
      <vt:lpstr>Verdana</vt:lpstr>
      <vt:lpstr>Webdings</vt:lpstr>
      <vt:lpstr>1_os-8</vt:lpstr>
      <vt:lpstr>Custom Design</vt:lpstr>
      <vt:lpstr>Project Title : Marine Plastic Debris Detection Using Machine Learning</vt:lpstr>
      <vt:lpstr>Outline</vt:lpstr>
      <vt:lpstr>Introduction</vt:lpstr>
      <vt:lpstr>Problem Statement</vt:lpstr>
      <vt:lpstr>Objectives</vt:lpstr>
      <vt:lpstr>Literature Review</vt:lpstr>
      <vt:lpstr>Literature Review (cont…)</vt:lpstr>
      <vt:lpstr>Literature Review (cont…)</vt:lpstr>
      <vt:lpstr>Literature Review (cont…)</vt:lpstr>
      <vt:lpstr>Literature Review (cont…)</vt:lpstr>
      <vt:lpstr>PowerPoint Presentation</vt:lpstr>
      <vt:lpstr>Work Done (after MP-I)</vt:lpstr>
      <vt:lpstr>Dataset</vt:lpstr>
      <vt:lpstr>Project Design</vt:lpstr>
      <vt:lpstr>Project Design (cont…)</vt:lpstr>
      <vt:lpstr>Project Design (cont…)</vt:lpstr>
      <vt:lpstr>Tools, Technologies and Languages</vt:lpstr>
      <vt:lpstr>Tools, Technologies and Languages (cont…)</vt:lpstr>
      <vt:lpstr>Implementation</vt:lpstr>
      <vt:lpstr>Implementation (cont…)</vt:lpstr>
      <vt:lpstr>Implementation (cont…)</vt:lpstr>
      <vt:lpstr>Implementation (cont…)</vt:lpstr>
      <vt:lpstr>Experimental Results and Evaluation</vt:lpstr>
      <vt:lpstr>Experimental Results and Evaluation (cont…)</vt:lpstr>
      <vt:lpstr>Experimental Results and Evaluation (cont…)</vt:lpstr>
      <vt:lpstr>Publications</vt:lpstr>
      <vt:lpstr>Future Work</vt:lpstr>
      <vt:lpstr>Project Plan</vt:lpstr>
      <vt:lpstr>Key Learnings</vt:lpstr>
      <vt:lpstr>Work Contribution and Attendance</vt:lpstr>
      <vt:lpstr>Supervisor Interactions (as mentioned in weekly log)</vt:lpstr>
      <vt:lpstr>Supervisor Interactions (cont…)</vt:lpstr>
      <vt:lpstr>Supervisor Interactions (cont…)</vt:lpstr>
      <vt:lpstr>Supervisor Interactions (cont…)</vt:lpstr>
      <vt:lpstr>References</vt:lpstr>
      <vt:lpstr>References (cont…)</vt:lpstr>
      <vt:lpstr>References (cont…)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Harman Maan</cp:lastModifiedBy>
  <cp:revision>1496</cp:revision>
  <cp:lastPrinted>2025-09-08T06:45:20Z</cp:lastPrinted>
  <dcterms:created xsi:type="dcterms:W3CDTF">2008-07-20T15:16:37Z</dcterms:created>
  <dcterms:modified xsi:type="dcterms:W3CDTF">2026-05-10T14:42:25Z</dcterms:modified>
</cp:coreProperties>
</file>